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d8923e4-6ace-7175-bb94-d7e1a152d43d}">
          <p14:sldIdLst>
            <p14:sldId id="256"/>
          </p14:sldIdLst>
        </p14:section>
        <p14:section name="Problem &amp; Data" id="{223dba67-2d08-00d9-6124-37c629e833d6}">
          <p14:sldIdLst>
            <p14:sldId id="257"/>
            <p14:sldId id="258"/>
            <p14:sldId id="259"/>
          </p14:sldIdLst>
        </p14:section>
        <p14:section name="Exploration &amp; Comparison" id="{2299d2c1-db31-0d7d-acff-0b9df6b39138}">
          <p14:sldIdLst>
            <p14:sldId id="260"/>
            <p14:sldId id="261"/>
            <p14:sldId id="262"/>
            <p14:sldId id="263"/>
          </p14:sldIdLst>
        </p14:section>
        <p14:section name="Statistical Testing" id="{5fdecd31-8b4f-2f1e-33d2-70d912915bc1}">
          <p14:sldIdLst>
            <p14:sldId id="264"/>
            <p14:sldId id="265"/>
          </p14:sldIdLst>
        </p14:section>
        <p14:section name="Team Performance Index" id="{fb609a21-56a6-2fa6-4949-27711f373509}">
          <p14:sldIdLst>
            <p14:sldId id="266"/>
            <p14:sldId id="267"/>
          </p14:sldIdLst>
        </p14:section>
        <p14:section name="Insights &amp; Recommendations" id="{bb491c3b-7393-2f64-73f3-459f3db5a43c}">
          <p14:sldIdLst>
            <p14:sldId id="268"/>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Introduce yourself and your team. Say: 'Our project asks a simple question: can ball-by-ball IPL data tell us why teams win, beyond just counting wins?' Mention the tools: Python with Pandas for data work, Matplotlib and Seaborn for charts, SciPy for hypothesis tests. Edit the names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Franchises spend crores at the auction, but wins and losses alone do not explain why a team succeeds or fails. A team can lose after a great batting display or win with an average one. Our objective: use ball-by-ball data to find strengths, weaknesses and the indicators linked with winning. Walk quickly through the six research questions; the rest of the talk answers them in order: comparison (Q1-3), hypothesis tests (Q4), seasons (Q5), and the Performance Index (Q6).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Two files from the Kaggle IPL Complete Dataset by Patrick B. deliveries.csv is the main dataset: one row per ball, roughly 260,000 rows and 17 columns. Every team metric comes from it. matches.csv has about 1,100 rows and 20 columns and gives context only: season, winner, venue. They are joined on match_id in deliveries equal to id in matches, which gives one working ball-by-ball table. Key message: the ball-by-ball file tells us HOW teams played; the matches file tells us whether they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Start with the timeline: we split every innings into three phases because cricket is not played at an even pace. Powerplay is overs 1 to 6, middle overs are 7 to 16, death overs are 17 to 20. Then the cleaning: franchises renamed over the years are unified (for example Delhi Daredevils to Delhi Capitals), dates become season years, duplicate rows are removed, overs are standardised to 0-19, super overs and no-result matches are excluded so every innings can be labelled win or loss. Finally the features: a legal-ball flag because wides and no-balls are not counted in the six balls of an over; bowler-runs because byes and leg-byes are not charged to the bowler; dot-ball and boundary flags; and bowler-credited wickets, which exclude run-outs and retirements.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Four views of the 260,269 balls (250,845 legal) in the cleaned data: 346,797 runs, 12,893 wickets, 29,770 fours, 13,009 sixes, an overall run rate of 8.30 and 36.0% dot balls. Top left: runs per over start low (about 6.1 in over 1), climb through the powerplay, dip at over 7, then rise to a peak around over 18; wickets per over are highest in over 20. By phase, the run rate is 7.85 in the powerplay, 7.90 in the middle and 10.23 in the death overs, and a wicket falls every 10.9 balls in the death versus 22 to 25 balls earlier. Top right: caught is by far the most common dismissal (about 8,000 of 12,893), then bowled and run out. Bottom left: run rate rose from 8.31 in 2008 to 9.56 in 2024 and sixes per match from 10.74 to 17.76. Bottom right: innings totals centre around 160 and the run-rate box plots rise in the latest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We compare franchises on two sides. Batting: run rate, runs per wicket, boundary percentage, dot-ball percentage and run rate by phase. Bowling: economy, strike rate (balls per bowler-credited wicket), dot-ball percentage bowled, wides plus no-balls per over, and economy by phase. Only franchises with at least 30 matches are included. The scatter plot is from notebook section 4.1, with 14 franchises that played at least 30 matches. How to read it: the x-axis is flipped, so teams further RIGHT have lower (better) economy and teams higher UP score faster. The best profile is high scoring AND low economy, which is the top-right corner once the axis is flipped. Point to the teams in that corner and to teams that are strong in only one discipline, using the chart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Left heatmap: batting run rate by phase, higher is better. Right heatmap: bowling economy by phase, lower is better. Fourteen franchises with at least 30 matches. Batting: Gujarat Lions have the highest powerplay run rate (8.63, from only 30 matches) and Gujarat Titans the highest death-over run rate (11.37). Bowling: Deccan Chargers have the lowest powerplay economy (7.00) and Mumbai Indians the lowest death-over economy (9.60). Why death overs matter: the league-wide run rate is 10.23 in the death versus 7.85 and 7.90 earlier, and a wicket falls every 10.9 balls, so batting and bowling skill there swings results. Tactical point: match bowlers and finishers to the phase where a rival is weakest. Mention that Gujarat Lions, Rising Pune Supergiant (30 matches each) are small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Win percentage when batting first versus chasing for the nine franchises with at least 30 batting-first innings; the red dashed line marks 50 percent. The gap is chase win percentage minus bat-first win percentage. Kolkata Knight Riders have the largest chasing edge: 59.5 percent when chasing versus 44.2 batting first, a gap of 15.4 points. Rajasthan Royals (+14.1) and Punjab Kings (+11.9) follow. Deccan Chargers are the only team better at defending: 41.9 batting first versus 34.4 chasing, a gap of minus 7.5. Chennai Super Kings are strong in both roles (53.8 and 63.6). Statistically, the average run rate does not differ between the two innings (H3, p = 0.23), so the gaps are about winning, not scoring pace. Practical message: prepare separately for defending and chasing.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Why test? A chart can show a difference, but only a test tells us whether it is bigger than chance. We use alpha = 0.05 and the innings as the unit of analysis, each labelled win or loss. Read the seven hypotheses on the left. Welch's t-test compares two means without assuming equal variances (H1, H2, H3, H5). Chi-square tests whether two categories are linked, here powerplay collapse versus result (H4). ANOVA compares many group means at once, here franchises with at least 100 innings (H6). H7 repeats the winner-versus-loser comparison in each phase with Cohen's d. On the right: the null hypothesis says no real difference; the p-value is the chance of a gap this large if the null were true; below 0.05 we reject the null; and Cohen's d tells us how BIG the gap is, because with 2,180 innings even tiny gaps can be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These are the notebook's printed results (alpha = 0.05; 2,180 innings, 1,090 wins and 1,090 losses). H1: winning innings score 8.89 runs per over versus 7.74 in losses, t = 18.87, Cohen's d = 0.81, a large effect; reject H0. H2: dot-ball share is 34.1 percent in wins versus 38.0 in losses, t = minus 12.81, d = minus 0.55, a medium effect; reject H0. H3: first innings 8.36 versus second 8.28, t = 1.19, p = 0.233; we fail to reject H0, so there is no evidence of a pace difference. H4: chi-square = 107.57, p below 0.001; teams that lost 3 or more powerplay wickets won 24.7 percent versus 54.9 percent otherwise. H5: 7.97 in 2008 to 2015 versus 8.62 from 2016, t = minus 10.03, d = minus 0.43, small to medium; reject H0. H6: ANOVA across 8 franchises, F = 0.62, p = 0.739; fail to reject, franchise batting run rates are within normal variation. H7: winner-versus-loser gaps are 0.96 in the powerplay, 1.03 in the middle and 2.49 runs per over in the death; Cohen's d is 0.47, 0.58 and 0.73, so the death overs separate winners most. The notebook prints p-values below 0.000001 as 0.000000, shown here as less than 0.001. Rule: p below 0.05 means the evidence supports rejecting H0; p of 0.05 or more means we fail to reject it. Remind the audience that the two innings of a match are not independent, so p-values are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the centrepiece. It is a transparent, rule-based index, NOT a trained machine-learning model, so every number can be explained to a coach. Step 1: convert each metric to a z-score, meaning how many standard deviations a team is above or below the average team, and flip the metrics where lower is better so that positive always means stronger. Step 2: Batting Index is the equal-weight average of five components, Bowling Index likewise, and the Performance Index is 50 percent batting plus 50 percent bowling. Step 3: tiers by fixed cut-offs: Elite at 0.50 or above, Strong 0.15 to 0.50, Average between minus 0.15 and 0.15, Struggling below minus 0.15. Profiles: if batting minus bowling is above 0.3 the team is batting-led, below minus 0.3 bowling-led, otherwise balanced. On the right: the contribution chart from the notebook and one real report card. Results for the 14 franchises with at least 30 matches: Gujarat Titans are the only Elite team (index 0.68, batting-led); Mumbai Indians and Chennai Super Kings (both 0.44), Sunrisers Hyderabad, Rising Pune Supergiant and Kolkata Knight Riders are Strong; Punjab Kings, Gujarat Lions and Pune Warriors are Struggling. Gujarat Titans' report card shows strong dot-ball avoidance and death-over batting but weak powerplay and overall bowling. Note that the chart draws the bowling part as a bar stacked after the batting part, exactly as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Validation logic: the index is built only from ball-by-ball statistics and never sees the win-loss column, so agreement with win percentage is real evidence it measures performance. We built it for 146 team-seasons with at least eight matches, standardised within each season, and compared with that season's win percentage. Spearman rho is 0.73 for the Performance Index, 0.47 for the Batting Index and 0.48 for the Bowling Index; a regression of win percentage on the two sub-indices gives R-squared 0.56 (win % = 49.3 + 9.7 x batting + 11.2 x bowling), so bowling carries slightly more weight than batting. Tier check: Elite team-seasons averaged 64.7 percent wins (20 team-seasons), Strong 56.1 (40), Average 48.9 (32) and Struggling 38.8 (54). The chart shows the Spearman correlation of each component with win percentage: bowling strike rate (0.52) and overall batting run rate (0.45) are highest, powerplay economy (0.17) lowest. Caution: correlation does not prove causation, and individual team-seasons are small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Six insights, each tied to a number. Every evidence line comes from the notebook's printed output. Note insight 4: teams show different batting and bowling profiles, but the ANOVA found no significant difference in batting run rate across the 8 largest franchises, so say 'profiles differ' rather than 'run rates differ'. Cover insights 1 and 2 quickly (winners and powerplay collapses), then 3 to 5 as 'how teams and seasons differ', and spend the most time on insight 6, the Performance Index, since it is the project's main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Left: what franchises should do. Use the team report cards to find the weakest metric, aim auction spend at it, protect the powerplay and reduce dot balls, strengthen death-over batting or bowling where needed, prepare separately for defending and chasing, and track the index every season. Middle: be upfront about limitations. Equal weights are a judgement call, team-season samples are small, squads change at every auction, the two innings of a match are not independent so p-values are approximate, and venue, pitch, toss and opposition are not fully adjusted. Right: future scope: player-level analysis, venue and pitch adjustment, a ball-by-ball win-probability model, and alternative index weightings. Recommendations are interpretations of the findings, not proven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THEN QUESTIONS. Close the loop: we started with 'win and loss alone do not explain performance' and showed that ball-by-ball data can be converted into actionable team metrics. Three contributions: first, comprehensive batting and bowling comparisons by franchise and phase; second, a statistical investigation of what differs between winning and losing innings; third, a transparent Team Performance Index that shows each team's strengths and weaknesses. Say thank you and invite questions. Likely questions: why equal weights; why Welch's test; why not machine learning; are p-values reliable given non-independent innings; what would you add next (venue adjustment, player-level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128"/>
        </a:solidFill>
        <a:effectLst/>
      </p:bgPr>
    </p:bg>
    <p:spTree>
      <p:nvGrpSpPr>
        <p:cNvPr id="1" name=""/>
        <p:cNvGrpSpPr/>
        <p:nvPr/>
      </p:nvGrpSpPr>
      <p:grpSpPr>
        <a:xfrm>
          <a:off x="0" y="0"/>
          <a:ext cx="0" cy="0"/>
          <a:chOff x="0" y="0"/>
          <a:chExt cx="0" cy="0"/>
        </a:xfrm>
      </p:grpSpPr>
      <p:sp>
        <p:nvSpPr>
          <p:cNvPr id="2" name="Text 0"/>
          <p:cNvSpPr/>
          <p:nvPr/>
        </p:nvSpPr>
        <p:spPr>
          <a:xfrm>
            <a:off x="457200" y="4846320"/>
            <a:ext cx="5486400" cy="228600"/>
          </a:xfrm>
          <a:prstGeom prst="rect">
            <a:avLst/>
          </a:prstGeom>
          <a:noFill/>
        </p:spPr>
        <p:txBody>
          <a:bodyPr wrap="square" lIns="0" tIns="0" rIns="0" bIns="0" rtlCol="0" anchor="ctr"/>
          <a:lstStyle/>
          <a:p>
            <a:pPr marL="0" indent="0">
              <a:buNone/>
            </a:pPr>
            <a:r>
              <a:rPr lang="en-US" sz="1000" dirty="0">
                <a:solidFill>
                  <a:srgbClr val="9AA5B8"/>
                </a:solidFill>
              </a:rPr>
              <a:t>IPL Team Performance Analysis  |  Data Analytics Case Study</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rtlCol="0"/>
          <a:lstStyle>
            <a:lvl1pPr marL="0" indent="0" algn="l">
              <a:buNone/>
              <a:defRPr lang="en-US" sz="2600" b="1" dirty="0">
                <a:solidFill>
                  <a:srgbClr val="F1F4FA"/>
                </a:solidFill>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A112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undary rope"/>
          <p:cNvSpPr/>
          <p:nvPr/>
        </p:nvSpPr>
        <p:spPr>
          <a:xfrm>
            <a:off x="5440680" y="777240"/>
            <a:ext cx="3383280" cy="3383280"/>
          </a:xfrm>
          <a:prstGeom prst="ellipse">
            <a:avLst/>
          </a:prstGeom>
          <a:solidFill>
            <a:srgbClr val="0F2A22"/>
          </a:solidFill>
          <a:ln w="31750">
            <a:solidFill>
              <a:srgbClr val="2FBF71"/>
            </a:solidFill>
            <a:prstDash val="solid"/>
          </a:ln>
        </p:spPr>
      </p:sp>
      <p:sp>
        <p:nvSpPr>
          <p:cNvPr id="3" name="Inner circle"/>
          <p:cNvSpPr/>
          <p:nvPr/>
        </p:nvSpPr>
        <p:spPr>
          <a:xfrm>
            <a:off x="5989320" y="1325880"/>
            <a:ext cx="2286000" cy="2286000"/>
          </a:xfrm>
          <a:prstGeom prst="ellipse">
            <a:avLst/>
          </a:prstGeom>
          <a:solidFill>
            <a:srgbClr val="123524"/>
          </a:solidFill>
          <a:ln w="12700">
            <a:solidFill>
              <a:srgbClr val="2FBF71"/>
            </a:solidFill>
            <a:prstDash val="dash"/>
          </a:ln>
        </p:spPr>
      </p:sp>
      <p:sp>
        <p:nvSpPr>
          <p:cNvPr id="4" name="Pitch"/>
          <p:cNvSpPr/>
          <p:nvPr/>
        </p:nvSpPr>
        <p:spPr>
          <a:xfrm>
            <a:off x="6858000" y="1691640"/>
            <a:ext cx="548640" cy="1554480"/>
          </a:xfrm>
          <a:prstGeom prst="rect">
            <a:avLst/>
          </a:prstGeom>
          <a:solidFill>
            <a:srgbClr val="D9C18A">
              <a:alpha val="85000"/>
            </a:srgbClr>
          </a:solidFill>
          <a:ln w="12700">
            <a:solidFill>
              <a:srgbClr val="D9C18A"/>
            </a:solidFill>
            <a:prstDash val="solid"/>
          </a:ln>
        </p:spPr>
      </p:sp>
      <p:sp>
        <p:nvSpPr>
          <p:cNvPr id="5" name="Shape 3"/>
          <p:cNvSpPr/>
          <p:nvPr/>
        </p:nvSpPr>
        <p:spPr>
          <a:xfrm>
            <a:off x="6720840" y="1920240"/>
            <a:ext cx="822960" cy="0"/>
          </a:xfrm>
          <a:prstGeom prst="line">
            <a:avLst/>
          </a:prstGeom>
          <a:noFill/>
          <a:ln w="15875">
            <a:solidFill>
              <a:srgbClr val="FFFFFF"/>
            </a:solidFill>
            <a:prstDash val="solid"/>
          </a:ln>
        </p:spPr>
      </p:sp>
      <p:sp>
        <p:nvSpPr>
          <p:cNvPr id="6" name="Shape 4"/>
          <p:cNvSpPr/>
          <p:nvPr/>
        </p:nvSpPr>
        <p:spPr>
          <a:xfrm>
            <a:off x="6720840" y="3017520"/>
            <a:ext cx="822960" cy="0"/>
          </a:xfrm>
          <a:prstGeom prst="line">
            <a:avLst/>
          </a:prstGeom>
          <a:noFill/>
          <a:ln w="15875">
            <a:solidFill>
              <a:srgbClr val="FFFFFF"/>
            </a:solidFill>
            <a:prstDash val="solid"/>
          </a:ln>
        </p:spPr>
      </p:sp>
      <p:sp>
        <p:nvSpPr>
          <p:cNvPr id="7" name="Ball"/>
          <p:cNvSpPr/>
          <p:nvPr/>
        </p:nvSpPr>
        <p:spPr>
          <a:xfrm>
            <a:off x="7013448" y="2331720"/>
            <a:ext cx="237744" cy="237744"/>
          </a:xfrm>
          <a:prstGeom prst="ellipse">
            <a:avLst/>
          </a:prstGeom>
          <a:solidFill>
            <a:srgbClr val="E63946"/>
          </a:solidFill>
          <a:ln w="9525">
            <a:solidFill>
              <a:srgbClr val="FFFFFF"/>
            </a:solidFill>
            <a:prstDash val="solid"/>
          </a:ln>
        </p:spPr>
      </p:sp>
      <p:sp>
        <p:nvSpPr>
          <p:cNvPr id="8" name="Text 6"/>
          <p:cNvSpPr txBox="1"/>
          <p:nvPr/>
        </p:nvSpPr>
        <p:spPr>
          <a:xfrm>
            <a:off x="548640" y="594360"/>
            <a:ext cx="4572000" cy="228600"/>
          </a:xfrm>
          <a:prstGeom prst="rect">
            <a:avLst/>
          </a:prstGeom>
          <a:noFill/>
        </p:spPr>
        <p:txBody>
          <a:bodyPr wrap="square" lIns="0" tIns="0" rIns="0" bIns="0" rtlCol="0" anchor="t"/>
          <a:lstStyle/>
          <a:p>
            <a:pPr marL="0" indent="0">
              <a:buNone/>
            </a:pPr>
            <a:r>
              <a:rPr lang="en-US" sz="1100" b="1" kern="0" spc="300" dirty="0">
                <a:solidFill>
                  <a:srgbClr val="FCA311"/>
                </a:solidFill>
              </a:rPr>
              <a:t>DATA ANALYTICS CASE STUDY</a:t>
            </a:r>
            <a:endParaRPr lang="en-US" sz="1100" dirty="0"/>
          </a:p>
        </p:txBody>
      </p:sp>
      <p:sp>
        <p:nvSpPr>
          <p:cNvPr id="9" name="Text 7"/>
          <p:cNvSpPr txBox="1"/>
          <p:nvPr/>
        </p:nvSpPr>
        <p:spPr>
          <a:xfrm>
            <a:off x="548640" y="868680"/>
            <a:ext cx="4754880" cy="1737360"/>
          </a:xfrm>
          <a:prstGeom prst="rect">
            <a:avLst/>
          </a:prstGeom>
          <a:noFill/>
        </p:spPr>
        <p:txBody>
          <a:bodyPr wrap="square" lIns="0" tIns="0" rIns="0" bIns="0" rtlCol="0" anchor="t"/>
          <a:lstStyle/>
          <a:p>
            <a:pPr marL="0" indent="0">
              <a:buNone/>
            </a:pPr>
            <a:r>
              <a:rPr lang="en-US" sz="4000" b="1" dirty="0">
                <a:solidFill>
                  <a:srgbClr val="F1F4FA"/>
                </a:solidFill>
                <a:latin typeface="Cambria" panose="02040503050406030204" pitchFamily="34" charset="0"/>
                <a:ea typeface="Cambria" panose="02040503050406030204" pitchFamily="34" charset="-122"/>
                <a:cs typeface="Cambria" panose="02040503050406030204" pitchFamily="34" charset="-120"/>
              </a:rPr>
              <a:t>IPL Team</a:t>
            </a:r>
            <a:endParaRPr lang="en-US" sz="4000" dirty="0"/>
          </a:p>
          <a:p>
            <a:pPr marL="0" indent="0">
              <a:buNone/>
            </a:pPr>
            <a:r>
              <a:rPr lang="en-US" sz="4000" b="1" dirty="0">
                <a:solidFill>
                  <a:srgbClr val="F1F4FA"/>
                </a:solidFill>
                <a:latin typeface="Cambria" panose="02040503050406030204" pitchFamily="34" charset="0"/>
                <a:ea typeface="Cambria" panose="02040503050406030204" pitchFamily="34" charset="-122"/>
                <a:cs typeface="Cambria" panose="02040503050406030204" pitchFamily="34" charset="-120"/>
              </a:rPr>
              <a:t>Performance</a:t>
            </a:r>
            <a:endParaRPr lang="en-US" sz="4000" dirty="0"/>
          </a:p>
          <a:p>
            <a:pPr marL="0" indent="0">
              <a:buNone/>
            </a:pPr>
            <a:r>
              <a:rPr lang="en-US" sz="4000" b="1" dirty="0">
                <a:solidFill>
                  <a:srgbClr val="F1F4FA"/>
                </a:solidFill>
                <a:latin typeface="Cambria" panose="02040503050406030204" pitchFamily="34" charset="0"/>
                <a:ea typeface="Cambria" panose="02040503050406030204" pitchFamily="34" charset="-122"/>
                <a:cs typeface="Cambria" panose="02040503050406030204" pitchFamily="34" charset="-120"/>
              </a:rPr>
              <a:t>Analysis</a:t>
            </a:r>
            <a:endParaRPr lang="en-US" sz="4000" dirty="0"/>
          </a:p>
        </p:txBody>
      </p:sp>
      <p:sp>
        <p:nvSpPr>
          <p:cNvPr id="10" name="Text 8"/>
          <p:cNvSpPr txBox="1"/>
          <p:nvPr/>
        </p:nvSpPr>
        <p:spPr>
          <a:xfrm>
            <a:off x="548640" y="2788920"/>
            <a:ext cx="4572000" cy="640080"/>
          </a:xfrm>
          <a:prstGeom prst="rect">
            <a:avLst/>
          </a:prstGeom>
          <a:noFill/>
        </p:spPr>
        <p:txBody>
          <a:bodyPr wrap="square" lIns="0" tIns="0" rIns="0" bIns="0" rtlCol="0" anchor="t"/>
          <a:lstStyle/>
          <a:p>
            <a:pPr marL="0" indent="0">
              <a:buNone/>
            </a:pPr>
            <a:r>
              <a:rPr lang="en-US" sz="1500" dirty="0">
                <a:solidFill>
                  <a:srgbClr val="9AA5B8"/>
                </a:solidFill>
              </a:rPr>
              <a:t>A Data-Driven Approach to Understanding Batting, Bowling, and Winning Performance</a:t>
            </a:r>
            <a:endParaRPr lang="en-US" sz="1500" dirty="0"/>
          </a:p>
        </p:txBody>
      </p:sp>
      <p:sp>
        <p:nvSpPr>
          <p:cNvPr id="11" name="Text 9"/>
          <p:cNvSpPr txBox="1"/>
          <p:nvPr/>
        </p:nvSpPr>
        <p:spPr>
          <a:xfrm>
            <a:off x="548640" y="3520440"/>
            <a:ext cx="4754880" cy="274320"/>
          </a:xfrm>
          <a:prstGeom prst="rect">
            <a:avLst/>
          </a:prstGeom>
          <a:noFill/>
        </p:spPr>
        <p:txBody>
          <a:bodyPr wrap="square" lIns="0" tIns="0" rIns="0" bIns="0" rtlCol="0" anchor="t"/>
          <a:lstStyle/>
          <a:p>
            <a:pPr marL="0" indent="0">
              <a:buNone/>
            </a:pPr>
            <a:r>
              <a:rPr lang="en-US" sz="1300" b="1" dirty="0">
                <a:solidFill>
                  <a:srgbClr val="FCA311"/>
                </a:solidFill>
              </a:rPr>
              <a:t>[Your Name]</a:t>
            </a:r>
            <a:r>
              <a:rPr lang="en-US" sz="1300" b="1" dirty="0">
                <a:solidFill>
                  <a:srgbClr val="F1F4FA"/>
                </a:solidFill>
              </a:rPr>
              <a:t>  ·  </a:t>
            </a:r>
            <a:r>
              <a:rPr lang="en-US" sz="1300" b="1" dirty="0">
                <a:solidFill>
                  <a:srgbClr val="FCA311"/>
                </a:solidFill>
              </a:rPr>
              <a:t>[Team member 2]</a:t>
            </a:r>
            <a:r>
              <a:rPr lang="en-US" sz="1300" b="1" dirty="0">
                <a:solidFill>
                  <a:srgbClr val="F1F4FA"/>
                </a:solidFill>
              </a:rPr>
              <a:t>  ·  </a:t>
            </a:r>
            <a:r>
              <a:rPr lang="en-US" sz="1300" b="1" dirty="0">
                <a:solidFill>
                  <a:srgbClr val="FCA311"/>
                </a:solidFill>
              </a:rPr>
              <a:t>[Team member 3]</a:t>
            </a:r>
            <a:endParaRPr lang="en-US" sz="1300" dirty="0"/>
          </a:p>
        </p:txBody>
      </p:sp>
      <p:sp>
        <p:nvSpPr>
          <p:cNvPr id="12" name="Text 10"/>
          <p:cNvSpPr/>
          <p:nvPr/>
        </p:nvSpPr>
        <p:spPr>
          <a:xfrm>
            <a:off x="548640" y="4069080"/>
            <a:ext cx="731520" cy="292608"/>
          </a:xfrm>
          <a:prstGeom prst="roundRect">
            <a:avLst>
              <a:gd name="adj" fmla="val 18750"/>
            </a:avLst>
          </a:prstGeom>
          <a:solidFill>
            <a:srgbClr val="1B2B4F"/>
          </a:solidFill>
        </p:spPr>
        <p:txBody>
          <a:bodyPr wrap="square" lIns="0" tIns="0" rIns="0" bIns="0" rtlCol="0" anchor="ctr"/>
          <a:lstStyle/>
          <a:p>
            <a:pPr marL="0" indent="0" algn="ctr">
              <a:buNone/>
            </a:pPr>
            <a:r>
              <a:rPr lang="en-US" sz="1100" b="1" dirty="0">
                <a:solidFill>
                  <a:srgbClr val="F1F4FA"/>
                </a:solidFill>
              </a:rPr>
              <a:t>Python</a:t>
            </a:r>
            <a:endParaRPr lang="en-US" sz="1100" dirty="0"/>
          </a:p>
        </p:txBody>
      </p:sp>
      <p:sp>
        <p:nvSpPr>
          <p:cNvPr id="13" name="Text 11"/>
          <p:cNvSpPr/>
          <p:nvPr/>
        </p:nvSpPr>
        <p:spPr>
          <a:xfrm>
            <a:off x="1371600" y="4069080"/>
            <a:ext cx="777240" cy="292608"/>
          </a:xfrm>
          <a:prstGeom prst="roundRect">
            <a:avLst>
              <a:gd name="adj" fmla="val 18750"/>
            </a:avLst>
          </a:prstGeom>
          <a:solidFill>
            <a:srgbClr val="1B2B4F"/>
          </a:solidFill>
        </p:spPr>
        <p:txBody>
          <a:bodyPr wrap="square" lIns="0" tIns="0" rIns="0" bIns="0" rtlCol="0" anchor="ctr"/>
          <a:lstStyle/>
          <a:p>
            <a:pPr marL="0" indent="0" algn="ctr">
              <a:buNone/>
            </a:pPr>
            <a:r>
              <a:rPr lang="en-US" sz="1100" b="1" dirty="0">
                <a:solidFill>
                  <a:srgbClr val="F1F4FA"/>
                </a:solidFill>
              </a:rPr>
              <a:t>Pandas</a:t>
            </a:r>
            <a:endParaRPr lang="en-US" sz="1100" dirty="0"/>
          </a:p>
        </p:txBody>
      </p:sp>
      <p:sp>
        <p:nvSpPr>
          <p:cNvPr id="14" name="Text 12"/>
          <p:cNvSpPr/>
          <p:nvPr/>
        </p:nvSpPr>
        <p:spPr>
          <a:xfrm>
            <a:off x="2240280" y="4069080"/>
            <a:ext cx="960120" cy="292608"/>
          </a:xfrm>
          <a:prstGeom prst="roundRect">
            <a:avLst>
              <a:gd name="adj" fmla="val 18750"/>
            </a:avLst>
          </a:prstGeom>
          <a:solidFill>
            <a:srgbClr val="1B2B4F"/>
          </a:solidFill>
        </p:spPr>
        <p:txBody>
          <a:bodyPr wrap="square" lIns="0" tIns="0" rIns="0" bIns="0" rtlCol="0" anchor="ctr"/>
          <a:lstStyle/>
          <a:p>
            <a:pPr marL="0" indent="0" algn="ctr">
              <a:buNone/>
            </a:pPr>
            <a:r>
              <a:rPr lang="en-US" sz="1100" b="1" dirty="0">
                <a:solidFill>
                  <a:srgbClr val="F1F4FA"/>
                </a:solidFill>
              </a:rPr>
              <a:t>Matplotlib</a:t>
            </a:r>
            <a:endParaRPr lang="en-US" sz="1100" dirty="0"/>
          </a:p>
        </p:txBody>
      </p:sp>
      <p:sp>
        <p:nvSpPr>
          <p:cNvPr id="15" name="Text 13"/>
          <p:cNvSpPr/>
          <p:nvPr/>
        </p:nvSpPr>
        <p:spPr>
          <a:xfrm>
            <a:off x="3291840" y="4069080"/>
            <a:ext cx="822960" cy="292608"/>
          </a:xfrm>
          <a:prstGeom prst="roundRect">
            <a:avLst>
              <a:gd name="adj" fmla="val 18750"/>
            </a:avLst>
          </a:prstGeom>
          <a:solidFill>
            <a:srgbClr val="1B2B4F"/>
          </a:solidFill>
        </p:spPr>
        <p:txBody>
          <a:bodyPr wrap="square" lIns="0" tIns="0" rIns="0" bIns="0" rtlCol="0" anchor="ctr"/>
          <a:lstStyle/>
          <a:p>
            <a:pPr marL="0" indent="0" algn="ctr">
              <a:buNone/>
            </a:pPr>
            <a:r>
              <a:rPr lang="en-US" sz="1100" b="1" dirty="0">
                <a:solidFill>
                  <a:srgbClr val="F1F4FA"/>
                </a:solidFill>
              </a:rPr>
              <a:t>Seaborn</a:t>
            </a:r>
            <a:endParaRPr lang="en-US" sz="1100" dirty="0"/>
          </a:p>
        </p:txBody>
      </p:sp>
      <p:sp>
        <p:nvSpPr>
          <p:cNvPr id="16" name="Text 14"/>
          <p:cNvSpPr/>
          <p:nvPr/>
        </p:nvSpPr>
        <p:spPr>
          <a:xfrm>
            <a:off x="4206240" y="4069080"/>
            <a:ext cx="685800" cy="292608"/>
          </a:xfrm>
          <a:prstGeom prst="roundRect">
            <a:avLst>
              <a:gd name="adj" fmla="val 18750"/>
            </a:avLst>
          </a:prstGeom>
          <a:solidFill>
            <a:srgbClr val="1B2B4F"/>
          </a:solidFill>
        </p:spPr>
        <p:txBody>
          <a:bodyPr wrap="square" lIns="0" tIns="0" rIns="0" bIns="0" rtlCol="0" anchor="ctr"/>
          <a:lstStyle/>
          <a:p>
            <a:pPr marL="0" indent="0" algn="ctr">
              <a:buNone/>
            </a:pPr>
            <a:r>
              <a:rPr lang="en-US" sz="1100" b="1" dirty="0">
                <a:solidFill>
                  <a:srgbClr val="F1F4FA"/>
                </a:solidFill>
              </a:rPr>
              <a:t>SciPy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01 · BUSINESS PROBLEM</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Business Problem and Objectives</a:t>
            </a:r>
            <a:endParaRPr lang="en-US" sz="2600" dirty="0"/>
          </a:p>
        </p:txBody>
      </p:sp>
      <p:sp>
        <p:nvSpPr>
          <p:cNvPr id="5" name="card"/>
          <p:cNvSpPr/>
          <p:nvPr/>
        </p:nvSpPr>
        <p:spPr>
          <a:xfrm>
            <a:off x="457200" y="1097280"/>
            <a:ext cx="3200400" cy="3520440"/>
          </a:xfrm>
          <a:prstGeom prst="roundRect">
            <a:avLst>
              <a:gd name="adj" fmla="val 2286"/>
            </a:avLst>
          </a:prstGeom>
          <a:solidFill>
            <a:srgbClr val="14213D"/>
          </a:solidFill>
          <a:ln w="12700">
            <a:solidFill>
              <a:srgbClr val="14213D"/>
            </a:solidFill>
            <a:prstDash val="solid"/>
          </a:ln>
        </p:spPr>
      </p:sp>
      <p:sp>
        <p:nvSpPr>
          <p:cNvPr id="6" name="Text 3"/>
          <p:cNvSpPr txBox="1"/>
          <p:nvPr/>
        </p:nvSpPr>
        <p:spPr>
          <a:xfrm>
            <a:off x="640080" y="1234440"/>
            <a:ext cx="2834640" cy="274320"/>
          </a:xfrm>
          <a:prstGeom prst="rect">
            <a:avLst/>
          </a:prstGeom>
          <a:noFill/>
        </p:spPr>
        <p:txBody>
          <a:bodyPr wrap="square" lIns="0" tIns="0" rIns="0" bIns="0" rtlCol="0" anchor="t"/>
          <a:lstStyle/>
          <a:p>
            <a:pPr marL="0" indent="0">
              <a:buNone/>
            </a:pPr>
            <a:r>
              <a:rPr lang="en-US" sz="1600" b="1" dirty="0">
                <a:solidFill>
                  <a:srgbClr val="FCA311"/>
                </a:solidFill>
              </a:rPr>
              <a:t>The problem</a:t>
            </a:r>
            <a:endParaRPr lang="en-US" sz="1600" dirty="0"/>
          </a:p>
        </p:txBody>
      </p:sp>
      <p:sp>
        <p:nvSpPr>
          <p:cNvPr id="7" name="Text 4"/>
          <p:cNvSpPr txBox="1"/>
          <p:nvPr/>
        </p:nvSpPr>
        <p:spPr>
          <a:xfrm>
            <a:off x="640080" y="1600200"/>
            <a:ext cx="2834640" cy="1143000"/>
          </a:xfrm>
          <a:prstGeom prst="rect">
            <a:avLst/>
          </a:prstGeom>
          <a:noFill/>
        </p:spPr>
        <p:txBody>
          <a:bodyPr wrap="square" lIns="0" tIns="0" rIns="0" bIns="0" rtlCol="0" anchor="t"/>
          <a:lstStyle/>
          <a:p>
            <a:pPr marL="0" indent="0">
              <a:buNone/>
            </a:pPr>
            <a:r>
              <a:rPr lang="en-US" sz="1400" dirty="0">
                <a:solidFill>
                  <a:srgbClr val="F1F4FA"/>
                </a:solidFill>
              </a:rPr>
              <a:t>IPL franchises invest heavily in building squads. Wins and losses alone do not explain why a team succeeds or fails.</a:t>
            </a:r>
            <a:endParaRPr lang="en-US" sz="1400" dirty="0"/>
          </a:p>
        </p:txBody>
      </p:sp>
      <p:sp>
        <p:nvSpPr>
          <p:cNvPr id="8" name="Text 5"/>
          <p:cNvSpPr txBox="1"/>
          <p:nvPr/>
        </p:nvSpPr>
        <p:spPr>
          <a:xfrm>
            <a:off x="640080" y="2788920"/>
            <a:ext cx="2834640" cy="274320"/>
          </a:xfrm>
          <a:prstGeom prst="rect">
            <a:avLst/>
          </a:prstGeom>
          <a:noFill/>
        </p:spPr>
        <p:txBody>
          <a:bodyPr wrap="square" lIns="0" tIns="0" rIns="0" bIns="0" rtlCol="0" anchor="t"/>
          <a:lstStyle/>
          <a:p>
            <a:pPr marL="0" indent="0">
              <a:buNone/>
            </a:pPr>
            <a:r>
              <a:rPr lang="en-US" sz="1600" b="1" dirty="0">
                <a:solidFill>
                  <a:srgbClr val="FCA311"/>
                </a:solidFill>
              </a:rPr>
              <a:t>The objective</a:t>
            </a:r>
            <a:endParaRPr lang="en-US" sz="1600" dirty="0"/>
          </a:p>
        </p:txBody>
      </p:sp>
      <p:sp>
        <p:nvSpPr>
          <p:cNvPr id="9" name="Text 6"/>
          <p:cNvSpPr txBox="1"/>
          <p:nvPr/>
        </p:nvSpPr>
        <p:spPr>
          <a:xfrm>
            <a:off x="640080" y="3154680"/>
            <a:ext cx="2834640" cy="1280160"/>
          </a:xfrm>
          <a:prstGeom prst="rect">
            <a:avLst/>
          </a:prstGeom>
          <a:noFill/>
        </p:spPr>
        <p:txBody>
          <a:bodyPr wrap="square" lIns="0" tIns="0" rIns="0" bIns="0" rtlCol="0" anchor="t"/>
          <a:lstStyle/>
          <a:p>
            <a:pPr marL="0" indent="0">
              <a:buNone/>
            </a:pPr>
            <a:r>
              <a:rPr lang="en-US" sz="1400" dirty="0">
                <a:solidFill>
                  <a:srgbClr val="F1F4FA"/>
                </a:solidFill>
              </a:rPr>
              <a:t>Use ball-by-ball data to find strengths, weaknesses and the indicators associated with winning.</a:t>
            </a:r>
            <a:endParaRPr lang="en-US" sz="1400" dirty="0"/>
          </a:p>
        </p:txBody>
      </p:sp>
      <p:sp>
        <p:nvSpPr>
          <p:cNvPr id="10" name="card"/>
          <p:cNvSpPr/>
          <p:nvPr/>
        </p:nvSpPr>
        <p:spPr>
          <a:xfrm>
            <a:off x="3840480" y="1097280"/>
            <a:ext cx="2377440" cy="1097280"/>
          </a:xfrm>
          <a:prstGeom prst="roundRect">
            <a:avLst>
              <a:gd name="adj" fmla="val 6667"/>
            </a:avLst>
          </a:prstGeom>
          <a:solidFill>
            <a:srgbClr val="1B2B4F"/>
          </a:solidFill>
          <a:ln w="12700">
            <a:solidFill>
              <a:srgbClr val="1B2B4F"/>
            </a:solidFill>
            <a:prstDash val="solid"/>
          </a:ln>
        </p:spPr>
      </p:sp>
      <p:sp>
        <p:nvSpPr>
          <p:cNvPr id="11" name="Text 8"/>
          <p:cNvSpPr/>
          <p:nvPr/>
        </p:nvSpPr>
        <p:spPr>
          <a:xfrm>
            <a:off x="3950208" y="1207008"/>
            <a:ext cx="310896" cy="310896"/>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1</a:t>
            </a:r>
            <a:endParaRPr lang="en-US" sz="1200" dirty="0"/>
          </a:p>
        </p:txBody>
      </p:sp>
      <p:sp>
        <p:nvSpPr>
          <p:cNvPr id="12" name="Text 9"/>
          <p:cNvSpPr txBox="1"/>
          <p:nvPr/>
        </p:nvSpPr>
        <p:spPr>
          <a:xfrm>
            <a:off x="4343400" y="1207008"/>
            <a:ext cx="1783080" cy="896112"/>
          </a:xfrm>
          <a:prstGeom prst="rect">
            <a:avLst/>
          </a:prstGeom>
          <a:noFill/>
        </p:spPr>
        <p:txBody>
          <a:bodyPr wrap="square" lIns="0" tIns="0" rIns="0" bIns="0" rtlCol="0" anchor="t"/>
          <a:lstStyle/>
          <a:p>
            <a:pPr marL="0" indent="0">
              <a:buNone/>
            </a:pPr>
            <a:r>
              <a:rPr lang="en-US" sz="1200" dirty="0">
                <a:solidFill>
                  <a:srgbClr val="F1F4FA"/>
                </a:solidFill>
              </a:rPr>
              <a:t>How do franchises compare in batting and bowling?</a:t>
            </a:r>
            <a:endParaRPr lang="en-US" sz="1200" dirty="0"/>
          </a:p>
        </p:txBody>
      </p:sp>
      <p:sp>
        <p:nvSpPr>
          <p:cNvPr id="13" name="card"/>
          <p:cNvSpPr/>
          <p:nvPr/>
        </p:nvSpPr>
        <p:spPr>
          <a:xfrm>
            <a:off x="6309360" y="1097280"/>
            <a:ext cx="2377440" cy="1097280"/>
          </a:xfrm>
          <a:prstGeom prst="roundRect">
            <a:avLst>
              <a:gd name="adj" fmla="val 6667"/>
            </a:avLst>
          </a:prstGeom>
          <a:solidFill>
            <a:srgbClr val="1B2B4F"/>
          </a:solidFill>
          <a:ln w="12700">
            <a:solidFill>
              <a:srgbClr val="1B2B4F"/>
            </a:solidFill>
            <a:prstDash val="solid"/>
          </a:ln>
        </p:spPr>
      </p:sp>
      <p:sp>
        <p:nvSpPr>
          <p:cNvPr id="14" name="Text 11"/>
          <p:cNvSpPr/>
          <p:nvPr/>
        </p:nvSpPr>
        <p:spPr>
          <a:xfrm>
            <a:off x="6419088" y="1207008"/>
            <a:ext cx="310896" cy="310896"/>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2</a:t>
            </a:r>
            <a:endParaRPr lang="en-US" sz="1200" dirty="0"/>
          </a:p>
        </p:txBody>
      </p:sp>
      <p:sp>
        <p:nvSpPr>
          <p:cNvPr id="15" name="Text 12"/>
          <p:cNvSpPr txBox="1"/>
          <p:nvPr/>
        </p:nvSpPr>
        <p:spPr>
          <a:xfrm>
            <a:off x="6812280" y="1207008"/>
            <a:ext cx="1783080" cy="896112"/>
          </a:xfrm>
          <a:prstGeom prst="rect">
            <a:avLst/>
          </a:prstGeom>
          <a:noFill/>
        </p:spPr>
        <p:txBody>
          <a:bodyPr wrap="square" lIns="0" tIns="0" rIns="0" bIns="0" rtlCol="0" anchor="t"/>
          <a:lstStyle/>
          <a:p>
            <a:pPr marL="0" indent="0">
              <a:buNone/>
            </a:pPr>
            <a:r>
              <a:rPr lang="en-US" sz="1200" dirty="0">
                <a:solidFill>
                  <a:srgbClr val="F1F4FA"/>
                </a:solidFill>
              </a:rPr>
              <a:t>Which innings phase is each team's strongest or weakest?</a:t>
            </a:r>
            <a:endParaRPr lang="en-US" sz="1200" dirty="0"/>
          </a:p>
        </p:txBody>
      </p:sp>
      <p:sp>
        <p:nvSpPr>
          <p:cNvPr id="16" name="card"/>
          <p:cNvSpPr/>
          <p:nvPr/>
        </p:nvSpPr>
        <p:spPr>
          <a:xfrm>
            <a:off x="3840480" y="2304288"/>
            <a:ext cx="2377440" cy="1097280"/>
          </a:xfrm>
          <a:prstGeom prst="roundRect">
            <a:avLst>
              <a:gd name="adj" fmla="val 6667"/>
            </a:avLst>
          </a:prstGeom>
          <a:solidFill>
            <a:srgbClr val="1B2B4F"/>
          </a:solidFill>
          <a:ln w="12700">
            <a:solidFill>
              <a:srgbClr val="1B2B4F"/>
            </a:solidFill>
            <a:prstDash val="solid"/>
          </a:ln>
        </p:spPr>
      </p:sp>
      <p:sp>
        <p:nvSpPr>
          <p:cNvPr id="17" name="Text 14"/>
          <p:cNvSpPr/>
          <p:nvPr/>
        </p:nvSpPr>
        <p:spPr>
          <a:xfrm>
            <a:off x="3950208" y="2414016"/>
            <a:ext cx="310896" cy="310896"/>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3</a:t>
            </a:r>
            <a:endParaRPr lang="en-US" sz="1200" dirty="0"/>
          </a:p>
        </p:txBody>
      </p:sp>
      <p:sp>
        <p:nvSpPr>
          <p:cNvPr id="18" name="Text 15"/>
          <p:cNvSpPr txBox="1"/>
          <p:nvPr/>
        </p:nvSpPr>
        <p:spPr>
          <a:xfrm>
            <a:off x="4343400" y="2414016"/>
            <a:ext cx="1783080" cy="896112"/>
          </a:xfrm>
          <a:prstGeom prst="rect">
            <a:avLst/>
          </a:prstGeom>
          <a:noFill/>
        </p:spPr>
        <p:txBody>
          <a:bodyPr wrap="square" lIns="0" tIns="0" rIns="0" bIns="0" rtlCol="0" anchor="t"/>
          <a:lstStyle/>
          <a:p>
            <a:pPr marL="0" indent="0">
              <a:buNone/>
            </a:pPr>
            <a:r>
              <a:rPr lang="en-US" sz="1200" dirty="0">
                <a:solidFill>
                  <a:srgbClr val="F1F4FA"/>
                </a:solidFill>
              </a:rPr>
              <a:t>Do teams perform differently batting first versus chasing?</a:t>
            </a:r>
            <a:endParaRPr lang="en-US" sz="1200" dirty="0"/>
          </a:p>
        </p:txBody>
      </p:sp>
      <p:sp>
        <p:nvSpPr>
          <p:cNvPr id="19" name="card"/>
          <p:cNvSpPr/>
          <p:nvPr/>
        </p:nvSpPr>
        <p:spPr>
          <a:xfrm>
            <a:off x="6309360" y="2304288"/>
            <a:ext cx="2377440" cy="1097280"/>
          </a:xfrm>
          <a:prstGeom prst="roundRect">
            <a:avLst>
              <a:gd name="adj" fmla="val 6667"/>
            </a:avLst>
          </a:prstGeom>
          <a:solidFill>
            <a:srgbClr val="1B2B4F"/>
          </a:solidFill>
          <a:ln w="12700">
            <a:solidFill>
              <a:srgbClr val="1B2B4F"/>
            </a:solidFill>
            <a:prstDash val="solid"/>
          </a:ln>
        </p:spPr>
      </p:sp>
      <p:sp>
        <p:nvSpPr>
          <p:cNvPr id="20" name="Text 17"/>
          <p:cNvSpPr/>
          <p:nvPr/>
        </p:nvSpPr>
        <p:spPr>
          <a:xfrm>
            <a:off x="6419088" y="2414016"/>
            <a:ext cx="310896" cy="310896"/>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4</a:t>
            </a:r>
            <a:endParaRPr lang="en-US" sz="1200" dirty="0"/>
          </a:p>
        </p:txBody>
      </p:sp>
      <p:sp>
        <p:nvSpPr>
          <p:cNvPr id="21" name="Text 18"/>
          <p:cNvSpPr txBox="1"/>
          <p:nvPr/>
        </p:nvSpPr>
        <p:spPr>
          <a:xfrm>
            <a:off x="6812280" y="2414016"/>
            <a:ext cx="1783080" cy="896112"/>
          </a:xfrm>
          <a:prstGeom prst="rect">
            <a:avLst/>
          </a:prstGeom>
          <a:noFill/>
        </p:spPr>
        <p:txBody>
          <a:bodyPr wrap="square" lIns="0" tIns="0" rIns="0" bIns="0" rtlCol="0" anchor="t"/>
          <a:lstStyle/>
          <a:p>
            <a:pPr marL="0" indent="0">
              <a:buNone/>
            </a:pPr>
            <a:r>
              <a:rPr lang="en-US" sz="1200" dirty="0">
                <a:solidFill>
                  <a:srgbClr val="F1F4FA"/>
                </a:solidFill>
              </a:rPr>
              <a:t>Which indicators separate winning from losing innings?</a:t>
            </a:r>
            <a:endParaRPr lang="en-US" sz="1200" dirty="0"/>
          </a:p>
        </p:txBody>
      </p:sp>
      <p:sp>
        <p:nvSpPr>
          <p:cNvPr id="22" name="card"/>
          <p:cNvSpPr/>
          <p:nvPr/>
        </p:nvSpPr>
        <p:spPr>
          <a:xfrm>
            <a:off x="3840480" y="3511296"/>
            <a:ext cx="2377440" cy="1097280"/>
          </a:xfrm>
          <a:prstGeom prst="roundRect">
            <a:avLst>
              <a:gd name="adj" fmla="val 6667"/>
            </a:avLst>
          </a:prstGeom>
          <a:solidFill>
            <a:srgbClr val="1B2B4F"/>
          </a:solidFill>
          <a:ln w="12700">
            <a:solidFill>
              <a:srgbClr val="1B2B4F"/>
            </a:solidFill>
            <a:prstDash val="solid"/>
          </a:ln>
        </p:spPr>
      </p:sp>
      <p:sp>
        <p:nvSpPr>
          <p:cNvPr id="23" name="Text 20"/>
          <p:cNvSpPr/>
          <p:nvPr/>
        </p:nvSpPr>
        <p:spPr>
          <a:xfrm>
            <a:off x="3950208" y="3621024"/>
            <a:ext cx="310896" cy="310896"/>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5</a:t>
            </a:r>
            <a:endParaRPr lang="en-US" sz="1200" dirty="0"/>
          </a:p>
        </p:txBody>
      </p:sp>
      <p:sp>
        <p:nvSpPr>
          <p:cNvPr id="24" name="Text 21"/>
          <p:cNvSpPr txBox="1"/>
          <p:nvPr/>
        </p:nvSpPr>
        <p:spPr>
          <a:xfrm>
            <a:off x="4343400" y="3621024"/>
            <a:ext cx="1783080" cy="896112"/>
          </a:xfrm>
          <a:prstGeom prst="rect">
            <a:avLst/>
          </a:prstGeom>
          <a:noFill/>
        </p:spPr>
        <p:txBody>
          <a:bodyPr wrap="square" lIns="0" tIns="0" rIns="0" bIns="0" rtlCol="0" anchor="t"/>
          <a:lstStyle/>
          <a:p>
            <a:pPr marL="0" indent="0">
              <a:buNone/>
            </a:pPr>
            <a:r>
              <a:rPr lang="en-US" sz="1200" dirty="0">
                <a:solidFill>
                  <a:srgbClr val="F1F4FA"/>
                </a:solidFill>
              </a:rPr>
              <a:t>How has scoring performance changed across seasons?</a:t>
            </a:r>
            <a:endParaRPr lang="en-US" sz="1200" dirty="0"/>
          </a:p>
        </p:txBody>
      </p:sp>
      <p:sp>
        <p:nvSpPr>
          <p:cNvPr id="25" name="card"/>
          <p:cNvSpPr/>
          <p:nvPr/>
        </p:nvSpPr>
        <p:spPr>
          <a:xfrm>
            <a:off x="6309360" y="3511296"/>
            <a:ext cx="2377440" cy="1097280"/>
          </a:xfrm>
          <a:prstGeom prst="roundRect">
            <a:avLst>
              <a:gd name="adj" fmla="val 6667"/>
            </a:avLst>
          </a:prstGeom>
          <a:solidFill>
            <a:srgbClr val="1B2B4F"/>
          </a:solidFill>
          <a:ln w="12700">
            <a:solidFill>
              <a:srgbClr val="1B2B4F"/>
            </a:solidFill>
            <a:prstDash val="solid"/>
          </a:ln>
        </p:spPr>
      </p:sp>
      <p:sp>
        <p:nvSpPr>
          <p:cNvPr id="26" name="Text 23"/>
          <p:cNvSpPr/>
          <p:nvPr/>
        </p:nvSpPr>
        <p:spPr>
          <a:xfrm>
            <a:off x="6419088" y="3621024"/>
            <a:ext cx="310896" cy="310896"/>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6</a:t>
            </a:r>
            <a:endParaRPr lang="en-US" sz="1200" dirty="0"/>
          </a:p>
        </p:txBody>
      </p:sp>
      <p:sp>
        <p:nvSpPr>
          <p:cNvPr id="27" name="Text 24"/>
          <p:cNvSpPr txBox="1"/>
          <p:nvPr/>
        </p:nvSpPr>
        <p:spPr>
          <a:xfrm>
            <a:off x="6812280" y="3621024"/>
            <a:ext cx="1783080" cy="896112"/>
          </a:xfrm>
          <a:prstGeom prst="rect">
            <a:avLst/>
          </a:prstGeom>
          <a:noFill/>
        </p:spPr>
        <p:txBody>
          <a:bodyPr wrap="square" lIns="0" tIns="0" rIns="0" bIns="0" rtlCol="0" anchor="t"/>
          <a:lstStyle/>
          <a:p>
            <a:pPr marL="0" indent="0">
              <a:buNone/>
            </a:pPr>
            <a:r>
              <a:rPr lang="en-US" sz="1200" dirty="0">
                <a:solidFill>
                  <a:srgbClr val="F1F4FA"/>
                </a:solidFill>
              </a:rPr>
              <a:t>Can a transparent Team Performance Index evaluate franchises?</a:t>
            </a:r>
            <a:endParaRPr lang="en-US" sz="1200" dirty="0"/>
          </a:p>
        </p:txBody>
      </p:sp>
      <p:sp>
        <p:nvSpPr>
          <p:cNvPr id="4"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02 · DATA UNDERSTANDING</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Dataset Understanding</a:t>
            </a:r>
            <a:endParaRPr lang="en-US" sz="2600" dirty="0"/>
          </a:p>
        </p:txBody>
      </p:sp>
      <p:sp>
        <p:nvSpPr>
          <p:cNvPr id="5" name="card"/>
          <p:cNvSpPr/>
          <p:nvPr/>
        </p:nvSpPr>
        <p:spPr>
          <a:xfrm>
            <a:off x="457200" y="1051560"/>
            <a:ext cx="3291840" cy="2468880"/>
          </a:xfrm>
          <a:prstGeom prst="roundRect">
            <a:avLst>
              <a:gd name="adj" fmla="val 2963"/>
            </a:avLst>
          </a:prstGeom>
          <a:solidFill>
            <a:srgbClr val="14213D"/>
          </a:solidFill>
          <a:ln w="12700">
            <a:solidFill>
              <a:srgbClr val="14213D"/>
            </a:solidFill>
            <a:prstDash val="solid"/>
          </a:ln>
        </p:spPr>
      </p:sp>
      <p:sp>
        <p:nvSpPr>
          <p:cNvPr id="6" name="Text 3"/>
          <p:cNvSpPr txBox="1"/>
          <p:nvPr/>
        </p:nvSpPr>
        <p:spPr>
          <a:xfrm>
            <a:off x="640080" y="1170432"/>
            <a:ext cx="2926080" cy="274320"/>
          </a:xfrm>
          <a:prstGeom prst="rect">
            <a:avLst/>
          </a:prstGeom>
          <a:noFill/>
        </p:spPr>
        <p:txBody>
          <a:bodyPr wrap="square" lIns="0" tIns="0" rIns="0" bIns="0" rtlCol="0" anchor="t"/>
          <a:lstStyle/>
          <a:p>
            <a:pPr marL="0" indent="0">
              <a:buNone/>
            </a:pPr>
            <a:r>
              <a:rPr lang="en-US" sz="1600" b="1" dirty="0">
                <a:solidFill>
                  <a:srgbClr val="F1F4FA"/>
                </a:solidFill>
              </a:rPr>
              <a:t>deliveries.csv</a:t>
            </a:r>
            <a:endParaRPr lang="en-US" sz="1600" dirty="0"/>
          </a:p>
        </p:txBody>
      </p:sp>
      <p:sp>
        <p:nvSpPr>
          <p:cNvPr id="7" name="Text 4"/>
          <p:cNvSpPr/>
          <p:nvPr/>
        </p:nvSpPr>
        <p:spPr>
          <a:xfrm>
            <a:off x="640080" y="1481328"/>
            <a:ext cx="2926080" cy="237744"/>
          </a:xfrm>
          <a:prstGeom prst="roundRect">
            <a:avLst>
              <a:gd name="adj" fmla="val 23077"/>
            </a:avLst>
          </a:prstGeom>
          <a:solidFill>
            <a:srgbClr val="FCA311"/>
          </a:solidFill>
        </p:spPr>
        <p:txBody>
          <a:bodyPr wrap="square" lIns="0" tIns="0" rIns="0" bIns="0" rtlCol="0" anchor="ctr"/>
          <a:lstStyle/>
          <a:p>
            <a:pPr marL="0" indent="0" algn="ctr">
              <a:buNone/>
            </a:pPr>
            <a:r>
              <a:rPr lang="en-US" sz="1000" b="1" dirty="0">
                <a:solidFill>
                  <a:srgbClr val="0A1128"/>
                </a:solidFill>
              </a:rPr>
              <a:t>PRIMARY SOURCE · ~260,000 rows × 17 columns</a:t>
            </a:r>
            <a:endParaRPr lang="en-US" sz="1000" dirty="0"/>
          </a:p>
        </p:txBody>
      </p:sp>
      <p:sp>
        <p:nvSpPr>
          <p:cNvPr id="8" name="Text 5"/>
          <p:cNvSpPr txBox="1"/>
          <p:nvPr/>
        </p:nvSpPr>
        <p:spPr>
          <a:xfrm>
            <a:off x="640080" y="1828800"/>
            <a:ext cx="2926080" cy="1600200"/>
          </a:xfrm>
          <a:prstGeom prst="rect">
            <a:avLst/>
          </a:prstGeom>
          <a:noFill/>
        </p:spPr>
        <p:txBody>
          <a:bodyPr wrap="square" lIns="0" tIns="0" rIns="0" bIns="0" rtlCol="0" anchor="t"/>
          <a:lstStyle/>
          <a:p>
            <a:pPr marL="152400" indent="-152400">
              <a:spcAft>
                <a:spcPts val="400"/>
              </a:spcAft>
              <a:buSzPct val="100000"/>
              <a:buChar char="•"/>
            </a:pPr>
            <a:r>
              <a:rPr lang="en-US" sz="1200" dirty="0">
                <a:solidFill>
                  <a:srgbClr val="F1F4FA"/>
                </a:solidFill>
              </a:rPr>
              <a:t>Match and innings identifiers</a:t>
            </a:r>
            <a:endParaRPr lang="en-US" sz="1200" dirty="0"/>
          </a:p>
          <a:p>
            <a:pPr marL="152400" indent="-152400">
              <a:spcAft>
                <a:spcPts val="400"/>
              </a:spcAft>
              <a:buSzPct val="100000"/>
              <a:buChar char="•"/>
            </a:pPr>
            <a:r>
              <a:rPr lang="en-US" sz="1200" dirty="0">
                <a:solidFill>
                  <a:srgbClr val="F1F4FA"/>
                </a:solidFill>
              </a:rPr>
              <a:t>Batting and bowling teams</a:t>
            </a:r>
            <a:endParaRPr lang="en-US" sz="1200" dirty="0"/>
          </a:p>
          <a:p>
            <a:pPr marL="152400" indent="-152400">
              <a:spcAft>
                <a:spcPts val="400"/>
              </a:spcAft>
              <a:buSzPct val="100000"/>
              <a:buChar char="•"/>
            </a:pPr>
            <a:r>
              <a:rPr lang="en-US" sz="1200" dirty="0">
                <a:solidFill>
                  <a:srgbClr val="F1F4FA"/>
                </a:solidFill>
              </a:rPr>
              <a:t>Over and ball-level run information</a:t>
            </a:r>
            <a:endParaRPr lang="en-US" sz="1200" dirty="0"/>
          </a:p>
          <a:p>
            <a:pPr marL="152400" indent="-152400">
              <a:spcAft>
                <a:spcPts val="400"/>
              </a:spcAft>
              <a:buSzPct val="100000"/>
              <a:buChar char="•"/>
            </a:pPr>
            <a:r>
              <a:rPr lang="en-US" sz="1200" dirty="0">
                <a:solidFill>
                  <a:srgbClr val="F1F4FA"/>
                </a:solidFill>
              </a:rPr>
              <a:t>Extras (wides, no-balls, byes…)</a:t>
            </a:r>
            <a:endParaRPr lang="en-US" sz="1200" dirty="0"/>
          </a:p>
          <a:p>
            <a:pPr marL="152400" indent="-152400">
              <a:spcAft>
                <a:spcPts val="400"/>
              </a:spcAft>
              <a:buSzPct val="100000"/>
              <a:buChar char="•"/>
            </a:pPr>
            <a:r>
              <a:rPr lang="en-US" sz="1200" dirty="0">
                <a:solidFill>
                  <a:srgbClr val="F1F4FA"/>
                </a:solidFill>
              </a:rPr>
              <a:t>Wickets and dismissal types</a:t>
            </a:r>
            <a:endParaRPr lang="en-US" sz="1200" dirty="0"/>
          </a:p>
        </p:txBody>
      </p:sp>
      <p:sp>
        <p:nvSpPr>
          <p:cNvPr id="9" name="card"/>
          <p:cNvSpPr/>
          <p:nvPr/>
        </p:nvSpPr>
        <p:spPr>
          <a:xfrm>
            <a:off x="5394960" y="1051560"/>
            <a:ext cx="3291840" cy="2468880"/>
          </a:xfrm>
          <a:prstGeom prst="roundRect">
            <a:avLst>
              <a:gd name="adj" fmla="val 2963"/>
            </a:avLst>
          </a:prstGeom>
          <a:solidFill>
            <a:srgbClr val="14213D"/>
          </a:solidFill>
          <a:ln w="12700">
            <a:solidFill>
              <a:srgbClr val="14213D"/>
            </a:solidFill>
            <a:prstDash val="solid"/>
          </a:ln>
        </p:spPr>
      </p:sp>
      <p:sp>
        <p:nvSpPr>
          <p:cNvPr id="10" name="Text 7"/>
          <p:cNvSpPr txBox="1"/>
          <p:nvPr/>
        </p:nvSpPr>
        <p:spPr>
          <a:xfrm>
            <a:off x="5577840" y="1170432"/>
            <a:ext cx="2926080" cy="274320"/>
          </a:xfrm>
          <a:prstGeom prst="rect">
            <a:avLst/>
          </a:prstGeom>
          <a:noFill/>
        </p:spPr>
        <p:txBody>
          <a:bodyPr wrap="square" lIns="0" tIns="0" rIns="0" bIns="0" rtlCol="0" anchor="t"/>
          <a:lstStyle/>
          <a:p>
            <a:pPr marL="0" indent="0">
              <a:buNone/>
            </a:pPr>
            <a:r>
              <a:rPr lang="en-US" sz="1600" b="1" dirty="0">
                <a:solidFill>
                  <a:srgbClr val="F1F4FA"/>
                </a:solidFill>
              </a:rPr>
              <a:t>matches.csv</a:t>
            </a:r>
            <a:endParaRPr lang="en-US" sz="1600" dirty="0"/>
          </a:p>
        </p:txBody>
      </p:sp>
      <p:sp>
        <p:nvSpPr>
          <p:cNvPr id="11" name="Text 8"/>
          <p:cNvSpPr/>
          <p:nvPr/>
        </p:nvSpPr>
        <p:spPr>
          <a:xfrm>
            <a:off x="5577840" y="1481328"/>
            <a:ext cx="2926080" cy="237744"/>
          </a:xfrm>
          <a:prstGeom prst="roundRect">
            <a:avLst>
              <a:gd name="adj" fmla="val 23077"/>
            </a:avLst>
          </a:prstGeom>
          <a:solidFill>
            <a:srgbClr val="4CC9F0"/>
          </a:solidFill>
        </p:spPr>
        <p:txBody>
          <a:bodyPr wrap="square" lIns="0" tIns="0" rIns="0" bIns="0" rtlCol="0" anchor="ctr"/>
          <a:lstStyle/>
          <a:p>
            <a:pPr marL="0" indent="0" algn="ctr">
              <a:buNone/>
            </a:pPr>
            <a:r>
              <a:rPr lang="en-US" sz="1000" b="1" dirty="0">
                <a:solidFill>
                  <a:srgbClr val="0A1128"/>
                </a:solidFill>
              </a:rPr>
              <a:t>CONTEXT ONLY · ~1,100 rows × 20 columns</a:t>
            </a:r>
            <a:endParaRPr lang="en-US" sz="1000" dirty="0"/>
          </a:p>
        </p:txBody>
      </p:sp>
      <p:sp>
        <p:nvSpPr>
          <p:cNvPr id="12" name="Text 9"/>
          <p:cNvSpPr txBox="1"/>
          <p:nvPr/>
        </p:nvSpPr>
        <p:spPr>
          <a:xfrm>
            <a:off x="5577840" y="1828800"/>
            <a:ext cx="2926080" cy="1600200"/>
          </a:xfrm>
          <a:prstGeom prst="rect">
            <a:avLst/>
          </a:prstGeom>
          <a:noFill/>
        </p:spPr>
        <p:txBody>
          <a:bodyPr wrap="square" lIns="0" tIns="0" rIns="0" bIns="0" rtlCol="0" anchor="t"/>
          <a:lstStyle/>
          <a:p>
            <a:pPr marL="152400" indent="-152400">
              <a:spcAft>
                <a:spcPts val="400"/>
              </a:spcAft>
              <a:buSzPct val="100000"/>
              <a:buChar char="•"/>
            </a:pPr>
            <a:r>
              <a:rPr lang="en-US" sz="1200" dirty="0">
                <a:solidFill>
                  <a:srgbClr val="F1F4FA"/>
                </a:solidFill>
              </a:rPr>
              <a:t>Match date and season</a:t>
            </a:r>
            <a:endParaRPr lang="en-US" sz="1200" dirty="0"/>
          </a:p>
          <a:p>
            <a:pPr marL="152400" indent="-152400">
              <a:spcAft>
                <a:spcPts val="400"/>
              </a:spcAft>
              <a:buSzPct val="100000"/>
              <a:buChar char="•"/>
            </a:pPr>
            <a:r>
              <a:rPr lang="en-US" sz="1200" dirty="0">
                <a:solidFill>
                  <a:srgbClr val="F1F4FA"/>
                </a:solidFill>
              </a:rPr>
              <a:t>Winning team</a:t>
            </a:r>
            <a:endParaRPr lang="en-US" sz="1200" dirty="0"/>
          </a:p>
          <a:p>
            <a:pPr marL="152400" indent="-152400">
              <a:spcAft>
                <a:spcPts val="400"/>
              </a:spcAft>
              <a:buSzPct val="100000"/>
              <a:buChar char="•"/>
            </a:pPr>
            <a:r>
              <a:rPr lang="en-US" sz="1200" dirty="0">
                <a:solidFill>
                  <a:srgbClr val="F1F4FA"/>
                </a:solidFill>
              </a:rPr>
              <a:t>Venue information</a:t>
            </a:r>
            <a:endParaRPr lang="en-US" sz="1200" dirty="0"/>
          </a:p>
          <a:p>
            <a:pPr marL="152400" indent="-152400">
              <a:spcAft>
                <a:spcPts val="400"/>
              </a:spcAft>
              <a:buSzPct val="100000"/>
              <a:buChar char="•"/>
            </a:pPr>
            <a:r>
              <a:rPr lang="en-US" sz="1200" dirty="0">
                <a:solidFill>
                  <a:srgbClr val="F1F4FA"/>
                </a:solidFill>
              </a:rPr>
              <a:t>Used to label every innings as a win or a loss</a:t>
            </a:r>
            <a:endParaRPr lang="en-US" sz="1200" dirty="0"/>
          </a:p>
        </p:txBody>
      </p:sp>
      <p:sp>
        <p:nvSpPr>
          <p:cNvPr id="13" name="Text 10"/>
          <p:cNvSpPr/>
          <p:nvPr/>
        </p:nvSpPr>
        <p:spPr>
          <a:xfrm>
            <a:off x="3886200" y="2057400"/>
            <a:ext cx="1371600" cy="502920"/>
          </a:xfrm>
          <a:prstGeom prst="roundRect">
            <a:avLst>
              <a:gd name="adj" fmla="val 10909"/>
            </a:avLst>
          </a:prstGeom>
          <a:solidFill>
            <a:srgbClr val="1B2B4F"/>
          </a:solidFill>
        </p:spPr>
        <p:txBody>
          <a:bodyPr wrap="square" lIns="0" tIns="0" rIns="0" bIns="0" rtlCol="0" anchor="ctr"/>
          <a:lstStyle/>
          <a:p>
            <a:pPr marL="0" indent="0" algn="ctr">
              <a:buNone/>
            </a:pPr>
            <a:r>
              <a:rPr lang="en-US" sz="1200" b="1" dirty="0">
                <a:solidFill>
                  <a:srgbClr val="FCA311"/>
                </a:solidFill>
              </a:rPr>
              <a:t>match_id  =  id</a:t>
            </a:r>
            <a:endParaRPr lang="en-US" sz="1200" dirty="0"/>
          </a:p>
        </p:txBody>
      </p:sp>
      <p:sp>
        <p:nvSpPr>
          <p:cNvPr id="14" name="Shape 11"/>
          <p:cNvSpPr/>
          <p:nvPr/>
        </p:nvSpPr>
        <p:spPr>
          <a:xfrm>
            <a:off x="3886200" y="1691640"/>
            <a:ext cx="640080" cy="256032"/>
          </a:xfrm>
          <a:prstGeom prst="rightArrow">
            <a:avLst/>
          </a:prstGeom>
          <a:solidFill>
            <a:srgbClr val="9AA5B8"/>
          </a:solidFill>
          <a:ln w="12700">
            <a:solidFill>
              <a:srgbClr val="9AA5B8"/>
            </a:solidFill>
            <a:prstDash val="solid"/>
          </a:ln>
        </p:spPr>
      </p:sp>
      <p:sp>
        <p:nvSpPr>
          <p:cNvPr id="15" name="Shape 12"/>
          <p:cNvSpPr/>
          <p:nvPr/>
        </p:nvSpPr>
        <p:spPr>
          <a:xfrm>
            <a:off x="4617720" y="2651760"/>
            <a:ext cx="640080" cy="256032"/>
          </a:xfrm>
          <a:prstGeom prst="leftArrow">
            <a:avLst/>
          </a:prstGeom>
          <a:solidFill>
            <a:srgbClr val="9AA5B8"/>
          </a:solidFill>
          <a:ln w="12700">
            <a:solidFill>
              <a:srgbClr val="9AA5B8"/>
            </a:solidFill>
            <a:prstDash val="solid"/>
          </a:ln>
        </p:spPr>
      </p:sp>
      <p:sp>
        <p:nvSpPr>
          <p:cNvPr id="16" name="Shape 13"/>
          <p:cNvSpPr/>
          <p:nvPr/>
        </p:nvSpPr>
        <p:spPr>
          <a:xfrm>
            <a:off x="1965960" y="3584448"/>
            <a:ext cx="274320" cy="256032"/>
          </a:xfrm>
          <a:prstGeom prst="downArrow">
            <a:avLst/>
          </a:prstGeom>
          <a:solidFill>
            <a:srgbClr val="9AA5B8"/>
          </a:solidFill>
          <a:ln w="12700">
            <a:solidFill>
              <a:srgbClr val="9AA5B8"/>
            </a:solidFill>
            <a:prstDash val="solid"/>
          </a:ln>
        </p:spPr>
      </p:sp>
      <p:sp>
        <p:nvSpPr>
          <p:cNvPr id="17" name="Shape 14"/>
          <p:cNvSpPr/>
          <p:nvPr/>
        </p:nvSpPr>
        <p:spPr>
          <a:xfrm>
            <a:off x="6903720" y="3584448"/>
            <a:ext cx="274320" cy="256032"/>
          </a:xfrm>
          <a:prstGeom prst="downArrow">
            <a:avLst/>
          </a:prstGeom>
          <a:solidFill>
            <a:srgbClr val="9AA5B8"/>
          </a:solidFill>
          <a:ln w="12700">
            <a:solidFill>
              <a:srgbClr val="9AA5B8"/>
            </a:solidFill>
            <a:prstDash val="solid"/>
          </a:ln>
        </p:spPr>
      </p:sp>
      <p:sp>
        <p:nvSpPr>
          <p:cNvPr id="18" name="Text 15"/>
          <p:cNvSpPr/>
          <p:nvPr/>
        </p:nvSpPr>
        <p:spPr>
          <a:xfrm>
            <a:off x="457200" y="3886200"/>
            <a:ext cx="8229600" cy="457200"/>
          </a:xfrm>
          <a:prstGeom prst="roundRect">
            <a:avLst>
              <a:gd name="adj" fmla="val 16000"/>
            </a:avLst>
          </a:prstGeom>
          <a:solidFill>
            <a:srgbClr val="1B2B4F"/>
          </a:solidFill>
          <a:ln w="12700">
            <a:solidFill>
              <a:srgbClr val="FCA311"/>
            </a:solidFill>
          </a:ln>
        </p:spPr>
        <p:txBody>
          <a:bodyPr wrap="square" lIns="0" tIns="0" rIns="0" bIns="0" rtlCol="0" anchor="ctr"/>
          <a:lstStyle/>
          <a:p>
            <a:pPr marL="0" indent="0" algn="ctr">
              <a:buNone/>
            </a:pPr>
            <a:r>
              <a:rPr lang="en-US" sz="1400" b="1" dirty="0">
                <a:solidFill>
                  <a:srgbClr val="F1F4FA"/>
                </a:solidFill>
              </a:rPr>
              <a:t>Merged working table: every ball + season, winner and venue</a:t>
            </a:r>
            <a:endParaRPr lang="en-US" sz="1400" dirty="0"/>
          </a:p>
        </p:txBody>
      </p:sp>
      <p:sp>
        <p:nvSpPr>
          <p:cNvPr id="19" name="Text 16"/>
          <p:cNvSpPr txBox="1"/>
          <p:nvPr/>
        </p:nvSpPr>
        <p:spPr>
          <a:xfrm>
            <a:off x="457200" y="4434840"/>
            <a:ext cx="8229600" cy="274320"/>
          </a:xfrm>
          <a:prstGeom prst="rect">
            <a:avLst/>
          </a:prstGeom>
          <a:noFill/>
        </p:spPr>
        <p:txBody>
          <a:bodyPr wrap="square" lIns="0" tIns="0" rIns="0" bIns="0" rtlCol="0" anchor="t"/>
          <a:lstStyle/>
          <a:p>
            <a:pPr marL="0" indent="0" algn="ctr">
              <a:buNone/>
            </a:pPr>
            <a:r>
              <a:rPr lang="en-US" sz="1200" dirty="0">
                <a:solidFill>
                  <a:srgbClr val="9AA5B8"/>
                </a:solidFill>
              </a:rPr>
              <a:t>Ball-by-ball data is the primary source for team metrics; match data supplies outcomes and context.</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02 · DATA PREPARATION</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Data Cleaning and Feature Engineering</a:t>
            </a:r>
            <a:endParaRPr lang="en-US" sz="2600" dirty="0"/>
          </a:p>
        </p:txBody>
      </p:sp>
      <p:sp>
        <p:nvSpPr>
          <p:cNvPr id="5" name="Text 2"/>
          <p:cNvSpPr/>
          <p:nvPr/>
        </p:nvSpPr>
        <p:spPr>
          <a:xfrm>
            <a:off x="457200" y="1051560"/>
            <a:ext cx="2414016" cy="731520"/>
          </a:xfrm>
          <a:prstGeom prst="roundRect">
            <a:avLst>
              <a:gd name="adj" fmla="val 7500"/>
            </a:avLst>
          </a:prstGeom>
          <a:solidFill>
            <a:srgbClr val="2FBF71"/>
          </a:solidFill>
        </p:spPr>
        <p:txBody>
          <a:bodyPr wrap="square" lIns="381" tIns="381" rIns="381" bIns="381" rtlCol="0" anchor="ctr"/>
          <a:lstStyle/>
          <a:p>
            <a:pPr marL="0" indent="0" algn="ctr">
              <a:buNone/>
            </a:pPr>
            <a:r>
              <a:rPr lang="en-US" sz="1200" b="1" dirty="0">
                <a:solidFill>
                  <a:srgbClr val="0A1128"/>
                </a:solidFill>
              </a:rPr>
              <a:t>POWERPLAY</a:t>
            </a:r>
            <a:endParaRPr lang="en-US" sz="1200" dirty="0"/>
          </a:p>
          <a:p>
            <a:pPr marL="0" indent="0" algn="ctr">
              <a:buNone/>
            </a:pPr>
            <a:r>
              <a:rPr lang="en-US" sz="1200" b="1" dirty="0">
                <a:solidFill>
                  <a:srgbClr val="0A1128"/>
                </a:solidFill>
              </a:rPr>
              <a:t>overs 1–6</a:t>
            </a:r>
            <a:endParaRPr lang="en-US" sz="1200" dirty="0"/>
          </a:p>
        </p:txBody>
      </p:sp>
      <p:sp>
        <p:nvSpPr>
          <p:cNvPr id="6" name="Text 3"/>
          <p:cNvSpPr/>
          <p:nvPr/>
        </p:nvSpPr>
        <p:spPr>
          <a:xfrm>
            <a:off x="2926080" y="1051560"/>
            <a:ext cx="4059936" cy="731520"/>
          </a:xfrm>
          <a:prstGeom prst="roundRect">
            <a:avLst>
              <a:gd name="adj" fmla="val 7500"/>
            </a:avLst>
          </a:prstGeom>
          <a:solidFill>
            <a:srgbClr val="4CC9F0"/>
          </a:solidFill>
        </p:spPr>
        <p:txBody>
          <a:bodyPr wrap="square" lIns="381" tIns="381" rIns="381" bIns="381" rtlCol="0" anchor="ctr"/>
          <a:lstStyle/>
          <a:p>
            <a:pPr marL="0" indent="0" algn="ctr">
              <a:buNone/>
            </a:pPr>
            <a:r>
              <a:rPr lang="en-US" sz="1200" b="1" dirty="0">
                <a:solidFill>
                  <a:srgbClr val="0A1128"/>
                </a:solidFill>
              </a:rPr>
              <a:t>MIDDLE OVERS</a:t>
            </a:r>
            <a:endParaRPr lang="en-US" sz="1200" dirty="0"/>
          </a:p>
          <a:p>
            <a:pPr marL="0" indent="0" algn="ctr">
              <a:buNone/>
            </a:pPr>
            <a:r>
              <a:rPr lang="en-US" sz="1200" b="1" dirty="0">
                <a:solidFill>
                  <a:srgbClr val="0A1128"/>
                </a:solidFill>
              </a:rPr>
              <a:t>overs 7–16</a:t>
            </a:r>
            <a:endParaRPr lang="en-US" sz="1200" dirty="0"/>
          </a:p>
        </p:txBody>
      </p:sp>
      <p:sp>
        <p:nvSpPr>
          <p:cNvPr id="7" name="Text 4"/>
          <p:cNvSpPr/>
          <p:nvPr/>
        </p:nvSpPr>
        <p:spPr>
          <a:xfrm>
            <a:off x="7040880" y="1051560"/>
            <a:ext cx="1591056" cy="731520"/>
          </a:xfrm>
          <a:prstGeom prst="roundRect">
            <a:avLst>
              <a:gd name="adj" fmla="val 7500"/>
            </a:avLst>
          </a:prstGeom>
          <a:solidFill>
            <a:srgbClr val="E63946"/>
          </a:solidFill>
        </p:spPr>
        <p:txBody>
          <a:bodyPr wrap="square" lIns="381" tIns="381" rIns="381" bIns="381" rtlCol="0" anchor="ctr"/>
          <a:lstStyle/>
          <a:p>
            <a:pPr marL="0" indent="0" algn="ctr">
              <a:buNone/>
            </a:pPr>
            <a:r>
              <a:rPr lang="en-US" sz="1200" b="1" dirty="0">
                <a:solidFill>
                  <a:srgbClr val="0A1128"/>
                </a:solidFill>
              </a:rPr>
              <a:t>DEATH</a:t>
            </a:r>
            <a:endParaRPr lang="en-US" sz="1200" dirty="0"/>
          </a:p>
          <a:p>
            <a:pPr marL="0" indent="0" algn="ctr">
              <a:buNone/>
            </a:pPr>
            <a:r>
              <a:rPr lang="en-US" sz="1200" b="1" dirty="0">
                <a:solidFill>
                  <a:srgbClr val="0A1128"/>
                </a:solidFill>
              </a:rPr>
              <a:t>overs 17–20</a:t>
            </a:r>
            <a:endParaRPr lang="en-US" sz="1200" dirty="0"/>
          </a:p>
        </p:txBody>
      </p:sp>
      <p:sp>
        <p:nvSpPr>
          <p:cNvPr id="8" name="card"/>
          <p:cNvSpPr/>
          <p:nvPr/>
        </p:nvSpPr>
        <p:spPr>
          <a:xfrm>
            <a:off x="457200" y="1965960"/>
            <a:ext cx="4023360" cy="2743200"/>
          </a:xfrm>
          <a:prstGeom prst="roundRect">
            <a:avLst>
              <a:gd name="adj" fmla="val 2667"/>
            </a:avLst>
          </a:prstGeom>
          <a:solidFill>
            <a:srgbClr val="14213D"/>
          </a:solidFill>
          <a:ln w="12700">
            <a:solidFill>
              <a:srgbClr val="14213D"/>
            </a:solidFill>
            <a:prstDash val="solid"/>
          </a:ln>
        </p:spPr>
      </p:sp>
      <p:sp>
        <p:nvSpPr>
          <p:cNvPr id="9" name="Text 6"/>
          <p:cNvSpPr txBox="1"/>
          <p:nvPr/>
        </p:nvSpPr>
        <p:spPr>
          <a:xfrm>
            <a:off x="640080" y="2057400"/>
            <a:ext cx="3657600" cy="274320"/>
          </a:xfrm>
          <a:prstGeom prst="rect">
            <a:avLst/>
          </a:prstGeom>
          <a:noFill/>
        </p:spPr>
        <p:txBody>
          <a:bodyPr wrap="square" lIns="0" tIns="0" rIns="0" bIns="0" rtlCol="0" anchor="t"/>
          <a:lstStyle/>
          <a:p>
            <a:pPr marL="0" indent="0">
              <a:buNone/>
            </a:pPr>
            <a:r>
              <a:rPr lang="en-US" sz="1600" b="1" dirty="0">
                <a:solidFill>
                  <a:srgbClr val="FCA311"/>
                </a:solidFill>
              </a:rPr>
              <a:t>Cleaning</a:t>
            </a:r>
            <a:endParaRPr lang="en-US" sz="1600" dirty="0"/>
          </a:p>
        </p:txBody>
      </p:sp>
      <p:sp>
        <p:nvSpPr>
          <p:cNvPr id="10" name="Text 7"/>
          <p:cNvSpPr txBox="1"/>
          <p:nvPr/>
        </p:nvSpPr>
        <p:spPr>
          <a:xfrm>
            <a:off x="640080" y="2395728"/>
            <a:ext cx="3657600" cy="2240280"/>
          </a:xfrm>
          <a:prstGeom prst="rect">
            <a:avLst/>
          </a:prstGeom>
          <a:noFill/>
        </p:spPr>
        <p:txBody>
          <a:bodyPr wrap="square" lIns="0" tIns="0" rIns="0" bIns="0" rtlCol="0" anchor="t"/>
          <a:lstStyle/>
          <a:p>
            <a:pPr marL="152400" indent="-152400">
              <a:spcAft>
                <a:spcPts val="300"/>
              </a:spcAft>
              <a:buSzPct val="100000"/>
              <a:buChar char="•"/>
            </a:pPr>
            <a:r>
              <a:rPr lang="en-US" sz="1200" dirty="0">
                <a:solidFill>
                  <a:srgbClr val="F1F4FA"/>
                </a:solidFill>
              </a:rPr>
              <a:t>Standardise franchise names across seasons</a:t>
            </a:r>
            <a:endParaRPr lang="en-US" sz="1200" dirty="0"/>
          </a:p>
          <a:p>
            <a:pPr marL="152400" indent="-152400">
              <a:spcAft>
                <a:spcPts val="300"/>
              </a:spcAft>
              <a:buSzPct val="100000"/>
              <a:buChar char="•"/>
            </a:pPr>
            <a:r>
              <a:rPr lang="en-US" sz="1200" dirty="0">
                <a:solidFill>
                  <a:srgbClr val="F1F4FA"/>
                </a:solidFill>
              </a:rPr>
              <a:t>Convert match dates into season years</a:t>
            </a:r>
            <a:endParaRPr lang="en-US" sz="1200" dirty="0"/>
          </a:p>
          <a:p>
            <a:pPr marL="152400" indent="-152400">
              <a:spcAft>
                <a:spcPts val="300"/>
              </a:spcAft>
              <a:buSzPct val="100000"/>
              <a:buChar char="•"/>
            </a:pPr>
            <a:r>
              <a:rPr lang="en-US" sz="1200" dirty="0">
                <a:solidFill>
                  <a:srgbClr val="F1F4FA"/>
                </a:solidFill>
              </a:rPr>
              <a:t>Remove duplicate delivery rows</a:t>
            </a:r>
            <a:endParaRPr lang="en-US" sz="1200" dirty="0"/>
          </a:p>
          <a:p>
            <a:pPr marL="152400" indent="-152400">
              <a:spcAft>
                <a:spcPts val="300"/>
              </a:spcAft>
              <a:buSzPct val="100000"/>
              <a:buChar char="•"/>
            </a:pPr>
            <a:r>
              <a:rPr lang="en-US" sz="1200" dirty="0">
                <a:solidFill>
                  <a:srgbClr val="F1F4FA"/>
                </a:solidFill>
              </a:rPr>
              <a:t>Standardise over numbering to 0–19</a:t>
            </a:r>
            <a:endParaRPr lang="en-US" sz="1200" dirty="0"/>
          </a:p>
          <a:p>
            <a:pPr marL="152400" indent="-152400">
              <a:spcAft>
                <a:spcPts val="300"/>
              </a:spcAft>
              <a:buSzPct val="100000"/>
              <a:buChar char="•"/>
            </a:pPr>
            <a:r>
              <a:rPr lang="en-US" sz="1200" dirty="0">
                <a:solidFill>
                  <a:srgbClr val="F1F4FA"/>
                </a:solidFill>
              </a:rPr>
              <a:t>Exclude super overs and matches with no winner</a:t>
            </a:r>
            <a:endParaRPr lang="en-US" sz="1200" dirty="0"/>
          </a:p>
          <a:p>
            <a:pPr marL="152400" indent="-152400">
              <a:spcAft>
                <a:spcPts val="300"/>
              </a:spcAft>
              <a:buSzPct val="100000"/>
              <a:buChar char="•"/>
            </a:pPr>
            <a:r>
              <a:rPr lang="en-US" sz="1200" dirty="0">
                <a:solidFill>
                  <a:srgbClr val="F1F4FA"/>
                </a:solidFill>
              </a:rPr>
              <a:t>Merge match context into every delivery</a:t>
            </a:r>
            <a:endParaRPr lang="en-US" sz="1200" dirty="0"/>
          </a:p>
        </p:txBody>
      </p:sp>
      <p:sp>
        <p:nvSpPr>
          <p:cNvPr id="11" name="card"/>
          <p:cNvSpPr/>
          <p:nvPr/>
        </p:nvSpPr>
        <p:spPr>
          <a:xfrm>
            <a:off x="4663440" y="1965960"/>
            <a:ext cx="4023360" cy="2743200"/>
          </a:xfrm>
          <a:prstGeom prst="roundRect">
            <a:avLst>
              <a:gd name="adj" fmla="val 2667"/>
            </a:avLst>
          </a:prstGeom>
          <a:solidFill>
            <a:srgbClr val="14213D"/>
          </a:solidFill>
          <a:ln w="12700">
            <a:solidFill>
              <a:srgbClr val="14213D"/>
            </a:solidFill>
            <a:prstDash val="solid"/>
          </a:ln>
        </p:spPr>
      </p:sp>
      <p:sp>
        <p:nvSpPr>
          <p:cNvPr id="12" name="Text 9"/>
          <p:cNvSpPr txBox="1"/>
          <p:nvPr/>
        </p:nvSpPr>
        <p:spPr>
          <a:xfrm>
            <a:off x="4846320" y="2057400"/>
            <a:ext cx="3657600" cy="274320"/>
          </a:xfrm>
          <a:prstGeom prst="rect">
            <a:avLst/>
          </a:prstGeom>
          <a:noFill/>
        </p:spPr>
        <p:txBody>
          <a:bodyPr wrap="square" lIns="0" tIns="0" rIns="0" bIns="0" rtlCol="0" anchor="t"/>
          <a:lstStyle/>
          <a:p>
            <a:pPr marL="0" indent="0">
              <a:buNone/>
            </a:pPr>
            <a:r>
              <a:rPr lang="en-US" sz="1600" b="1" dirty="0">
                <a:solidFill>
                  <a:srgbClr val="FCA311"/>
                </a:solidFill>
              </a:rPr>
              <a:t>Feature engineering</a:t>
            </a:r>
            <a:endParaRPr lang="en-US" sz="1600" dirty="0"/>
          </a:p>
        </p:txBody>
      </p:sp>
      <p:sp>
        <p:nvSpPr>
          <p:cNvPr id="13" name="Text 10"/>
          <p:cNvSpPr txBox="1"/>
          <p:nvPr/>
        </p:nvSpPr>
        <p:spPr>
          <a:xfrm>
            <a:off x="4846320" y="2395728"/>
            <a:ext cx="3657600" cy="2240280"/>
          </a:xfrm>
          <a:prstGeom prst="rect">
            <a:avLst/>
          </a:prstGeom>
          <a:noFill/>
        </p:spPr>
        <p:txBody>
          <a:bodyPr wrap="square" lIns="0" tIns="0" rIns="0" bIns="0" rtlCol="0" anchor="t"/>
          <a:lstStyle/>
          <a:p>
            <a:pPr marL="152400" indent="-152400">
              <a:spcAft>
                <a:spcPts val="300"/>
              </a:spcAft>
              <a:buSzPct val="100000"/>
              <a:buChar char="•"/>
            </a:pPr>
            <a:r>
              <a:rPr lang="en-US" sz="1200" dirty="0">
                <a:solidFill>
                  <a:srgbClr val="F1F4FA"/>
                </a:solidFill>
              </a:rPr>
              <a:t>Legal ball (excludes wides and no-balls)</a:t>
            </a:r>
            <a:endParaRPr lang="en-US" sz="1200" dirty="0"/>
          </a:p>
          <a:p>
            <a:pPr marL="152400" indent="-152400">
              <a:spcAft>
                <a:spcPts val="300"/>
              </a:spcAft>
              <a:buSzPct val="100000"/>
              <a:buChar char="•"/>
            </a:pPr>
            <a:r>
              <a:rPr lang="en-US" sz="1200" dirty="0">
                <a:solidFill>
                  <a:srgbClr val="F1F4FA"/>
                </a:solidFill>
              </a:rPr>
              <a:t>Bowler runs (excludes byes, leg-byes, penalty)</a:t>
            </a:r>
            <a:endParaRPr lang="en-US" sz="1200" dirty="0"/>
          </a:p>
          <a:p>
            <a:pPr marL="152400" indent="-152400">
              <a:spcAft>
                <a:spcPts val="300"/>
              </a:spcAft>
              <a:buSzPct val="100000"/>
              <a:buChar char="•"/>
            </a:pPr>
            <a:r>
              <a:rPr lang="en-US" sz="1200" dirty="0">
                <a:solidFill>
                  <a:srgbClr val="F1F4FA"/>
                </a:solidFill>
              </a:rPr>
              <a:t>Dot-ball and boundary flags</a:t>
            </a:r>
            <a:endParaRPr lang="en-US" sz="1200" dirty="0"/>
          </a:p>
          <a:p>
            <a:pPr marL="152400" indent="-152400">
              <a:spcAft>
                <a:spcPts val="300"/>
              </a:spcAft>
              <a:buSzPct val="100000"/>
              <a:buChar char="•"/>
            </a:pPr>
            <a:r>
              <a:rPr lang="en-US" sz="1200" dirty="0">
                <a:solidFill>
                  <a:srgbClr val="F1F4FA"/>
                </a:solidFill>
              </a:rPr>
              <a:t>Bowler-credited wickets (excludes run-outs, retirements)</a:t>
            </a:r>
            <a:endParaRPr lang="en-US" sz="1200" dirty="0"/>
          </a:p>
          <a:p>
            <a:pPr marL="152400" indent="-152400">
              <a:spcAft>
                <a:spcPts val="300"/>
              </a:spcAft>
              <a:buSzPct val="100000"/>
              <a:buChar char="•"/>
            </a:pPr>
            <a:r>
              <a:rPr lang="en-US" sz="1200" dirty="0">
                <a:solidFill>
                  <a:srgbClr val="F1F4FA"/>
                </a:solidFill>
              </a:rPr>
              <a:t>Innings phase: powerplay, middle, death</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03 · EXPLORATORY ANALYSIS</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Exploratory Data Analysis</a:t>
            </a:r>
            <a:endParaRPr lang="en-US" sz="2600" dirty="0"/>
          </a:p>
        </p:txBody>
      </p:sp>
      <p:pic>
        <p:nvPicPr>
          <p:cNvPr id="5" name="Image 0" descr="Average runs and wickets per over"/>
          <p:cNvPicPr>
            <a:picLocks noChangeAspect="1"/>
          </p:cNvPicPr>
          <p:nvPr/>
        </p:nvPicPr>
        <p:blipFill>
          <a:blip r:embed="rId1"/>
          <a:stretch>
            <a:fillRect/>
          </a:stretch>
        </p:blipFill>
        <p:spPr>
          <a:xfrm>
            <a:off x="457200" y="1082986"/>
            <a:ext cx="4023360" cy="1217308"/>
          </a:xfrm>
          <a:prstGeom prst="rect">
            <a:avLst/>
          </a:prstGeom>
        </p:spPr>
      </p:pic>
      <p:sp>
        <p:nvSpPr>
          <p:cNvPr id="6" name="Text 2"/>
          <p:cNvSpPr txBox="1"/>
          <p:nvPr/>
        </p:nvSpPr>
        <p:spPr>
          <a:xfrm>
            <a:off x="457200" y="2423160"/>
            <a:ext cx="4023360" cy="411480"/>
          </a:xfrm>
          <a:prstGeom prst="rect">
            <a:avLst/>
          </a:prstGeom>
          <a:noFill/>
        </p:spPr>
        <p:txBody>
          <a:bodyPr wrap="square" lIns="0" tIns="0" rIns="0" bIns="0" rtlCol="0" anchor="t"/>
          <a:lstStyle/>
          <a:p>
            <a:pPr marL="0" indent="0">
              <a:buNone/>
            </a:pPr>
            <a:r>
              <a:rPr lang="en-US" sz="1100" dirty="0">
                <a:solidFill>
                  <a:srgbClr val="F1F4FA"/>
                </a:solidFill>
              </a:rPr>
              <a:t>Runs per over rise through the powerplay and peak near over 18; wickets are most frequent in over 20. Phase run rates: 7.85 / 7.90 / 10.23.</a:t>
            </a:r>
            <a:endParaRPr lang="en-US" sz="1100" dirty="0"/>
          </a:p>
        </p:txBody>
      </p:sp>
      <p:pic>
        <p:nvPicPr>
          <p:cNvPr id="7" name="Image 1" descr="Dismissal types"/>
          <p:cNvPicPr>
            <a:picLocks noChangeAspect="1"/>
          </p:cNvPicPr>
          <p:nvPr/>
        </p:nvPicPr>
        <p:blipFill>
          <a:blip r:embed="rId2"/>
          <a:stretch>
            <a:fillRect/>
          </a:stretch>
        </p:blipFill>
        <p:spPr>
          <a:xfrm>
            <a:off x="5142260" y="1005840"/>
            <a:ext cx="3065721" cy="1371600"/>
          </a:xfrm>
          <a:prstGeom prst="rect">
            <a:avLst/>
          </a:prstGeom>
        </p:spPr>
      </p:pic>
      <p:sp>
        <p:nvSpPr>
          <p:cNvPr id="8" name="Text 3"/>
          <p:cNvSpPr txBox="1"/>
          <p:nvPr/>
        </p:nvSpPr>
        <p:spPr>
          <a:xfrm>
            <a:off x="4663440" y="2423160"/>
            <a:ext cx="4023360" cy="411480"/>
          </a:xfrm>
          <a:prstGeom prst="rect">
            <a:avLst/>
          </a:prstGeom>
          <a:noFill/>
        </p:spPr>
        <p:txBody>
          <a:bodyPr wrap="square" lIns="0" tIns="0" rIns="0" bIns="0" rtlCol="0" anchor="t"/>
          <a:lstStyle/>
          <a:p>
            <a:pPr marL="0" indent="0">
              <a:buNone/>
            </a:pPr>
            <a:r>
              <a:rPr lang="en-US" sz="1100" dirty="0">
                <a:solidFill>
                  <a:srgbClr val="F1F4FA"/>
                </a:solidFill>
              </a:rPr>
              <a:t>Caught is by far the most common dismissal (about 8,000 of 12,893 wickets), then bowled and run out.</a:t>
            </a:r>
            <a:endParaRPr lang="en-US" sz="1100" dirty="0"/>
          </a:p>
        </p:txBody>
      </p:sp>
      <p:pic>
        <p:nvPicPr>
          <p:cNvPr id="9" name="Image 2" descr="Season trends: run rate, boundary %, dot %, sixes per match"/>
          <p:cNvPicPr>
            <a:picLocks noChangeAspect="1"/>
          </p:cNvPicPr>
          <p:nvPr/>
        </p:nvPicPr>
        <p:blipFill>
          <a:blip r:embed="rId3"/>
          <a:stretch>
            <a:fillRect/>
          </a:stretch>
        </p:blipFill>
        <p:spPr>
          <a:xfrm>
            <a:off x="457200" y="3038905"/>
            <a:ext cx="4023360" cy="1054510"/>
          </a:xfrm>
          <a:prstGeom prst="rect">
            <a:avLst/>
          </a:prstGeom>
        </p:spPr>
      </p:pic>
      <p:sp>
        <p:nvSpPr>
          <p:cNvPr id="10" name="Text 4"/>
          <p:cNvSpPr txBox="1"/>
          <p:nvPr/>
        </p:nvSpPr>
        <p:spPr>
          <a:xfrm>
            <a:off x="457200" y="4297680"/>
            <a:ext cx="4023360" cy="411480"/>
          </a:xfrm>
          <a:prstGeom prst="rect">
            <a:avLst/>
          </a:prstGeom>
          <a:noFill/>
        </p:spPr>
        <p:txBody>
          <a:bodyPr wrap="square" lIns="0" tIns="0" rIns="0" bIns="0" rtlCol="0" anchor="t"/>
          <a:lstStyle/>
          <a:p>
            <a:pPr marL="0" indent="0">
              <a:buNone/>
            </a:pPr>
            <a:r>
              <a:rPr lang="en-US" sz="1100" dirty="0">
                <a:solidFill>
                  <a:srgbClr val="F1F4FA"/>
                </a:solidFill>
              </a:rPr>
              <a:t>Run rate rose from 8.31 (2008) to 9.56 (2024); sixes per match from 10.74 to 17.76.</a:t>
            </a:r>
            <a:endParaRPr lang="en-US" sz="1100" dirty="0"/>
          </a:p>
        </p:txBody>
      </p:sp>
      <p:pic>
        <p:nvPicPr>
          <p:cNvPr id="11" name="Image 3" descr="Innings totals and run rate by year"/>
          <p:cNvPicPr>
            <a:picLocks noChangeAspect="1"/>
          </p:cNvPicPr>
          <p:nvPr/>
        </p:nvPicPr>
        <p:blipFill>
          <a:blip r:embed="rId4"/>
          <a:stretch>
            <a:fillRect/>
          </a:stretch>
        </p:blipFill>
        <p:spPr>
          <a:xfrm>
            <a:off x="4663440" y="2957506"/>
            <a:ext cx="4023360" cy="1217308"/>
          </a:xfrm>
          <a:prstGeom prst="rect">
            <a:avLst/>
          </a:prstGeom>
        </p:spPr>
      </p:pic>
      <p:sp>
        <p:nvSpPr>
          <p:cNvPr id="12" name="Text 5"/>
          <p:cNvSpPr txBox="1"/>
          <p:nvPr/>
        </p:nvSpPr>
        <p:spPr>
          <a:xfrm>
            <a:off x="4663440" y="4297680"/>
            <a:ext cx="4023360" cy="411480"/>
          </a:xfrm>
          <a:prstGeom prst="rect">
            <a:avLst/>
          </a:prstGeom>
          <a:noFill/>
        </p:spPr>
        <p:txBody>
          <a:bodyPr wrap="square" lIns="0" tIns="0" rIns="0" bIns="0" rtlCol="0" anchor="t"/>
          <a:lstStyle/>
          <a:p>
            <a:pPr marL="0" indent="0">
              <a:buNone/>
            </a:pPr>
            <a:r>
              <a:rPr lang="en-US" sz="1100" dirty="0">
                <a:solidFill>
                  <a:srgbClr val="F1F4FA"/>
                </a:solidFill>
              </a:rPr>
              <a:t>Innings totals centre near 160 runs; run-rate medians are higher in 2023 and 2024.</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04 · TEAM COMPARISON</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Comparing IPL Teams</a:t>
            </a:r>
            <a:endParaRPr lang="en-US" sz="2600" dirty="0"/>
          </a:p>
        </p:txBody>
      </p:sp>
      <p:sp>
        <p:nvSpPr>
          <p:cNvPr id="5" name="card"/>
          <p:cNvSpPr/>
          <p:nvPr/>
        </p:nvSpPr>
        <p:spPr>
          <a:xfrm>
            <a:off x="457200" y="1005840"/>
            <a:ext cx="3291840" cy="1828800"/>
          </a:xfrm>
          <a:prstGeom prst="roundRect">
            <a:avLst>
              <a:gd name="adj" fmla="val 4000"/>
            </a:avLst>
          </a:prstGeom>
          <a:solidFill>
            <a:srgbClr val="14213D"/>
          </a:solidFill>
          <a:ln w="12700">
            <a:solidFill>
              <a:srgbClr val="14213D"/>
            </a:solidFill>
            <a:prstDash val="solid"/>
          </a:ln>
        </p:spPr>
      </p:sp>
      <p:sp>
        <p:nvSpPr>
          <p:cNvPr id="6" name="Text 3"/>
          <p:cNvSpPr txBox="1"/>
          <p:nvPr/>
        </p:nvSpPr>
        <p:spPr>
          <a:xfrm>
            <a:off x="640080" y="1078992"/>
            <a:ext cx="2926080" cy="256032"/>
          </a:xfrm>
          <a:prstGeom prst="rect">
            <a:avLst/>
          </a:prstGeom>
          <a:noFill/>
        </p:spPr>
        <p:txBody>
          <a:bodyPr wrap="square" lIns="0" tIns="0" rIns="0" bIns="0" rtlCol="0" anchor="t"/>
          <a:lstStyle/>
          <a:p>
            <a:pPr marL="0" indent="0">
              <a:buNone/>
            </a:pPr>
            <a:r>
              <a:rPr lang="en-US" sz="1400" b="1" dirty="0">
                <a:solidFill>
                  <a:srgbClr val="4CC9F0"/>
                </a:solidFill>
              </a:rPr>
              <a:t>Batting metrics</a:t>
            </a:r>
            <a:endParaRPr lang="en-US" sz="1400" dirty="0"/>
          </a:p>
        </p:txBody>
      </p:sp>
      <p:sp>
        <p:nvSpPr>
          <p:cNvPr id="7" name="Text 4"/>
          <p:cNvSpPr txBox="1"/>
          <p:nvPr/>
        </p:nvSpPr>
        <p:spPr>
          <a:xfrm>
            <a:off x="640080" y="1371600"/>
            <a:ext cx="2926080" cy="1417320"/>
          </a:xfrm>
          <a:prstGeom prst="rect">
            <a:avLst/>
          </a:prstGeom>
          <a:noFill/>
        </p:spPr>
        <p:txBody>
          <a:bodyPr wrap="square" lIns="0" tIns="0" rIns="0" bIns="0" rtlCol="0" anchor="t"/>
          <a:lstStyle/>
          <a:p>
            <a:pPr marL="152400" indent="-152400">
              <a:spcAft>
                <a:spcPts val="200"/>
              </a:spcAft>
              <a:buSzPct val="100000"/>
              <a:buChar char="•"/>
            </a:pPr>
            <a:r>
              <a:rPr lang="en-US" sz="1200" dirty="0">
                <a:solidFill>
                  <a:srgbClr val="F1F4FA"/>
                </a:solidFill>
              </a:rPr>
              <a:t>Batting run rate</a:t>
            </a:r>
            <a:endParaRPr lang="en-US" sz="1200" dirty="0"/>
          </a:p>
          <a:p>
            <a:pPr marL="152400" indent="-152400">
              <a:spcAft>
                <a:spcPts val="200"/>
              </a:spcAft>
              <a:buSzPct val="100000"/>
              <a:buChar char="•"/>
            </a:pPr>
            <a:r>
              <a:rPr lang="en-US" sz="1200" dirty="0">
                <a:solidFill>
                  <a:srgbClr val="F1F4FA"/>
                </a:solidFill>
              </a:rPr>
              <a:t>Runs per wicket</a:t>
            </a:r>
            <a:endParaRPr lang="en-US" sz="1200" dirty="0"/>
          </a:p>
          <a:p>
            <a:pPr marL="152400" indent="-152400">
              <a:spcAft>
                <a:spcPts val="200"/>
              </a:spcAft>
              <a:buSzPct val="100000"/>
              <a:buChar char="•"/>
            </a:pPr>
            <a:r>
              <a:rPr lang="en-US" sz="1200" dirty="0">
                <a:solidFill>
                  <a:srgbClr val="F1F4FA"/>
                </a:solidFill>
              </a:rPr>
              <a:t>Boundary %</a:t>
            </a:r>
            <a:endParaRPr lang="en-US" sz="1200" dirty="0"/>
          </a:p>
          <a:p>
            <a:pPr marL="152400" indent="-152400">
              <a:spcAft>
                <a:spcPts val="200"/>
              </a:spcAft>
              <a:buSzPct val="100000"/>
              <a:buChar char="•"/>
            </a:pPr>
            <a:r>
              <a:rPr lang="en-US" sz="1200" dirty="0">
                <a:solidFill>
                  <a:srgbClr val="F1F4FA"/>
                </a:solidFill>
              </a:rPr>
              <a:t>Dot-ball %</a:t>
            </a:r>
            <a:endParaRPr lang="en-US" sz="1200" dirty="0"/>
          </a:p>
          <a:p>
            <a:pPr marL="152400" indent="-152400">
              <a:spcAft>
                <a:spcPts val="200"/>
              </a:spcAft>
              <a:buSzPct val="100000"/>
              <a:buChar char="•"/>
            </a:pPr>
            <a:r>
              <a:rPr lang="en-US" sz="1200" dirty="0">
                <a:solidFill>
                  <a:srgbClr val="F1F4FA"/>
                </a:solidFill>
              </a:rPr>
              <a:t>Run rate by phase</a:t>
            </a:r>
            <a:endParaRPr lang="en-US" sz="1200" dirty="0"/>
          </a:p>
        </p:txBody>
      </p:sp>
      <p:sp>
        <p:nvSpPr>
          <p:cNvPr id="8" name="card"/>
          <p:cNvSpPr/>
          <p:nvPr/>
        </p:nvSpPr>
        <p:spPr>
          <a:xfrm>
            <a:off x="457200" y="2926080"/>
            <a:ext cx="3291840" cy="1783080"/>
          </a:xfrm>
          <a:prstGeom prst="roundRect">
            <a:avLst>
              <a:gd name="adj" fmla="val 4103"/>
            </a:avLst>
          </a:prstGeom>
          <a:solidFill>
            <a:srgbClr val="14213D"/>
          </a:solidFill>
          <a:ln w="12700">
            <a:solidFill>
              <a:srgbClr val="14213D"/>
            </a:solidFill>
            <a:prstDash val="solid"/>
          </a:ln>
        </p:spPr>
      </p:sp>
      <p:sp>
        <p:nvSpPr>
          <p:cNvPr id="9" name="Text 6"/>
          <p:cNvSpPr txBox="1"/>
          <p:nvPr/>
        </p:nvSpPr>
        <p:spPr>
          <a:xfrm>
            <a:off x="640080" y="2999232"/>
            <a:ext cx="2926080" cy="256032"/>
          </a:xfrm>
          <a:prstGeom prst="rect">
            <a:avLst/>
          </a:prstGeom>
          <a:noFill/>
        </p:spPr>
        <p:txBody>
          <a:bodyPr wrap="square" lIns="0" tIns="0" rIns="0" bIns="0" rtlCol="0" anchor="t"/>
          <a:lstStyle/>
          <a:p>
            <a:pPr marL="0" indent="0">
              <a:buNone/>
            </a:pPr>
            <a:r>
              <a:rPr lang="en-US" sz="1400" b="1" dirty="0">
                <a:solidFill>
                  <a:srgbClr val="FCA311"/>
                </a:solidFill>
              </a:rPr>
              <a:t>Bowling metrics</a:t>
            </a:r>
            <a:endParaRPr lang="en-US" sz="1400" dirty="0"/>
          </a:p>
        </p:txBody>
      </p:sp>
      <p:sp>
        <p:nvSpPr>
          <p:cNvPr id="10" name="Text 7"/>
          <p:cNvSpPr txBox="1"/>
          <p:nvPr/>
        </p:nvSpPr>
        <p:spPr>
          <a:xfrm>
            <a:off x="640080" y="3291840"/>
            <a:ext cx="2926080" cy="1371600"/>
          </a:xfrm>
          <a:prstGeom prst="rect">
            <a:avLst/>
          </a:prstGeom>
          <a:noFill/>
        </p:spPr>
        <p:txBody>
          <a:bodyPr wrap="square" lIns="0" tIns="0" rIns="0" bIns="0" rtlCol="0" anchor="t"/>
          <a:lstStyle/>
          <a:p>
            <a:pPr marL="152400" indent="-152400">
              <a:spcAft>
                <a:spcPts val="200"/>
              </a:spcAft>
              <a:buSzPct val="100000"/>
              <a:buChar char="•"/>
            </a:pPr>
            <a:r>
              <a:rPr lang="en-US" sz="1200" dirty="0">
                <a:solidFill>
                  <a:srgbClr val="F1F4FA"/>
                </a:solidFill>
              </a:rPr>
              <a:t>Economy</a:t>
            </a:r>
            <a:endParaRPr lang="en-US" sz="1200" dirty="0"/>
          </a:p>
          <a:p>
            <a:pPr marL="152400" indent="-152400">
              <a:spcAft>
                <a:spcPts val="200"/>
              </a:spcAft>
              <a:buSzPct val="100000"/>
              <a:buChar char="•"/>
            </a:pPr>
            <a:r>
              <a:rPr lang="en-US" sz="1200" dirty="0">
                <a:solidFill>
                  <a:srgbClr val="F1F4FA"/>
                </a:solidFill>
              </a:rPr>
              <a:t>Strike rate (balls per wicket)</a:t>
            </a:r>
            <a:endParaRPr lang="en-US" sz="1200" dirty="0"/>
          </a:p>
          <a:p>
            <a:pPr marL="152400" indent="-152400">
              <a:spcAft>
                <a:spcPts val="200"/>
              </a:spcAft>
              <a:buSzPct val="100000"/>
              <a:buChar char="•"/>
            </a:pPr>
            <a:r>
              <a:rPr lang="en-US" sz="1200" dirty="0">
                <a:solidFill>
                  <a:srgbClr val="F1F4FA"/>
                </a:solidFill>
              </a:rPr>
              <a:t>Dot-ball % bowled</a:t>
            </a:r>
            <a:endParaRPr lang="en-US" sz="1200" dirty="0"/>
          </a:p>
          <a:p>
            <a:pPr marL="152400" indent="-152400">
              <a:spcAft>
                <a:spcPts val="200"/>
              </a:spcAft>
              <a:buSzPct val="100000"/>
              <a:buChar char="•"/>
            </a:pPr>
            <a:r>
              <a:rPr lang="en-US" sz="1200" dirty="0">
                <a:solidFill>
                  <a:srgbClr val="F1F4FA"/>
                </a:solidFill>
              </a:rPr>
              <a:t>Wides + no-balls per over</a:t>
            </a:r>
            <a:endParaRPr lang="en-US" sz="1200" dirty="0"/>
          </a:p>
          <a:p>
            <a:pPr marL="152400" indent="-152400">
              <a:spcAft>
                <a:spcPts val="200"/>
              </a:spcAft>
              <a:buSzPct val="100000"/>
              <a:buChar char="•"/>
            </a:pPr>
            <a:r>
              <a:rPr lang="en-US" sz="1200" dirty="0">
                <a:solidFill>
                  <a:srgbClr val="F1F4FA"/>
                </a:solidFill>
              </a:rPr>
              <a:t>Economy by phase</a:t>
            </a:r>
            <a:endParaRPr lang="en-US" sz="1200" dirty="0"/>
          </a:p>
        </p:txBody>
      </p:sp>
      <p:pic>
        <p:nvPicPr>
          <p:cNvPr id="11" name="Image 0" descr="Scatter: batting run rate vs bowling economy for each franchise"/>
          <p:cNvPicPr>
            <a:picLocks noChangeAspect="1"/>
          </p:cNvPicPr>
          <p:nvPr/>
        </p:nvPicPr>
        <p:blipFill>
          <a:blip r:embed="rId1"/>
          <a:stretch>
            <a:fillRect/>
          </a:stretch>
        </p:blipFill>
        <p:spPr>
          <a:xfrm>
            <a:off x="4489625" y="1005840"/>
            <a:ext cx="3639470" cy="2606040"/>
          </a:xfrm>
          <a:prstGeom prst="rect">
            <a:avLst/>
          </a:prstGeom>
        </p:spPr>
      </p:pic>
      <p:sp>
        <p:nvSpPr>
          <p:cNvPr id="12" name="card"/>
          <p:cNvSpPr/>
          <p:nvPr/>
        </p:nvSpPr>
        <p:spPr>
          <a:xfrm>
            <a:off x="3931920" y="3703320"/>
            <a:ext cx="1517904" cy="1005840"/>
          </a:xfrm>
          <a:prstGeom prst="roundRect">
            <a:avLst>
              <a:gd name="adj" fmla="val 7273"/>
            </a:avLst>
          </a:prstGeom>
          <a:solidFill>
            <a:srgbClr val="1B2B4F"/>
          </a:solidFill>
          <a:ln w="12700">
            <a:solidFill>
              <a:srgbClr val="1B2B4F"/>
            </a:solidFill>
            <a:prstDash val="solid"/>
          </a:ln>
        </p:spPr>
      </p:sp>
      <p:sp>
        <p:nvSpPr>
          <p:cNvPr id="13" name="Text 9"/>
          <p:cNvSpPr txBox="1"/>
          <p:nvPr/>
        </p:nvSpPr>
        <p:spPr>
          <a:xfrm>
            <a:off x="4023360" y="3767328"/>
            <a:ext cx="1335024" cy="868680"/>
          </a:xfrm>
          <a:prstGeom prst="rect">
            <a:avLst/>
          </a:prstGeom>
          <a:noFill/>
        </p:spPr>
        <p:txBody>
          <a:bodyPr wrap="square" lIns="0" tIns="0" rIns="0" bIns="0" rtlCol="0" anchor="t"/>
          <a:lstStyle/>
          <a:p>
            <a:pPr marL="0" indent="0">
              <a:buNone/>
            </a:pPr>
            <a:r>
              <a:rPr lang="en-US" sz="1100" dirty="0">
                <a:solidFill>
                  <a:srgbClr val="F1F4FA"/>
                </a:solidFill>
              </a:rPr>
              <a:t>Higher run rate = faster scoring</a:t>
            </a:r>
            <a:endParaRPr lang="en-US" sz="1100" dirty="0"/>
          </a:p>
        </p:txBody>
      </p:sp>
      <p:sp>
        <p:nvSpPr>
          <p:cNvPr id="14" name="card"/>
          <p:cNvSpPr/>
          <p:nvPr/>
        </p:nvSpPr>
        <p:spPr>
          <a:xfrm>
            <a:off x="5550408" y="3703320"/>
            <a:ext cx="1517904" cy="1005840"/>
          </a:xfrm>
          <a:prstGeom prst="roundRect">
            <a:avLst>
              <a:gd name="adj" fmla="val 7273"/>
            </a:avLst>
          </a:prstGeom>
          <a:solidFill>
            <a:srgbClr val="1B2B4F"/>
          </a:solidFill>
          <a:ln w="12700">
            <a:solidFill>
              <a:srgbClr val="1B2B4F"/>
            </a:solidFill>
            <a:prstDash val="solid"/>
          </a:ln>
        </p:spPr>
      </p:sp>
      <p:sp>
        <p:nvSpPr>
          <p:cNvPr id="15" name="Text 11"/>
          <p:cNvSpPr txBox="1"/>
          <p:nvPr/>
        </p:nvSpPr>
        <p:spPr>
          <a:xfrm>
            <a:off x="5641848" y="3767328"/>
            <a:ext cx="1335024" cy="868680"/>
          </a:xfrm>
          <a:prstGeom prst="rect">
            <a:avLst/>
          </a:prstGeom>
          <a:noFill/>
        </p:spPr>
        <p:txBody>
          <a:bodyPr wrap="square" lIns="0" tIns="0" rIns="0" bIns="0" rtlCol="0" anchor="t"/>
          <a:lstStyle/>
          <a:p>
            <a:pPr marL="0" indent="0">
              <a:buNone/>
            </a:pPr>
            <a:r>
              <a:rPr lang="en-US" sz="1100" dirty="0">
                <a:solidFill>
                  <a:srgbClr val="F1F4FA"/>
                </a:solidFill>
              </a:rPr>
              <a:t>Lower economy = fewer runs conceded</a:t>
            </a:r>
            <a:endParaRPr lang="en-US" sz="1100" dirty="0"/>
          </a:p>
        </p:txBody>
      </p:sp>
      <p:sp>
        <p:nvSpPr>
          <p:cNvPr id="16" name="card"/>
          <p:cNvSpPr/>
          <p:nvPr/>
        </p:nvSpPr>
        <p:spPr>
          <a:xfrm>
            <a:off x="7168896" y="3703320"/>
            <a:ext cx="1517904" cy="1005840"/>
          </a:xfrm>
          <a:prstGeom prst="roundRect">
            <a:avLst>
              <a:gd name="adj" fmla="val 7273"/>
            </a:avLst>
          </a:prstGeom>
          <a:solidFill>
            <a:srgbClr val="1B2B4F"/>
          </a:solidFill>
          <a:ln w="12700">
            <a:solidFill>
              <a:srgbClr val="1B2B4F"/>
            </a:solidFill>
            <a:prstDash val="solid"/>
          </a:ln>
        </p:spPr>
      </p:sp>
      <p:sp>
        <p:nvSpPr>
          <p:cNvPr id="17" name="Text 13"/>
          <p:cNvSpPr txBox="1"/>
          <p:nvPr/>
        </p:nvSpPr>
        <p:spPr>
          <a:xfrm>
            <a:off x="7260336" y="3767328"/>
            <a:ext cx="1335024" cy="868680"/>
          </a:xfrm>
          <a:prstGeom prst="rect">
            <a:avLst/>
          </a:prstGeom>
          <a:noFill/>
        </p:spPr>
        <p:txBody>
          <a:bodyPr wrap="square" lIns="0" tIns="0" rIns="0" bIns="0" rtlCol="0" anchor="t"/>
          <a:lstStyle/>
          <a:p>
            <a:pPr marL="0" indent="0">
              <a:buNone/>
            </a:pPr>
            <a:r>
              <a:rPr lang="en-US" sz="1100" dirty="0">
                <a:solidFill>
                  <a:srgbClr val="F1F4FA"/>
                </a:solidFill>
              </a:rPr>
              <a:t>Best profile: high scoring + low economy (top-right, x-axis reversed)</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04 · TEAM COMPARISON</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Phase-Wise Performance Analysis</a:t>
            </a:r>
            <a:endParaRPr lang="en-US" sz="2600" dirty="0"/>
          </a:p>
        </p:txBody>
      </p:sp>
      <p:pic>
        <p:nvPicPr>
          <p:cNvPr id="5" name="Image 0" descr="Heatmaps: batting run rate and bowling economy by team and phase"/>
          <p:cNvPicPr>
            <a:picLocks noChangeAspect="1"/>
          </p:cNvPicPr>
          <p:nvPr/>
        </p:nvPicPr>
        <p:blipFill>
          <a:blip r:embed="rId1"/>
          <a:stretch>
            <a:fillRect/>
          </a:stretch>
        </p:blipFill>
        <p:spPr>
          <a:xfrm>
            <a:off x="731520" y="1006839"/>
            <a:ext cx="7680960" cy="2741202"/>
          </a:xfrm>
          <a:prstGeom prst="rect">
            <a:avLst/>
          </a:prstGeom>
        </p:spPr>
      </p:pic>
      <p:sp>
        <p:nvSpPr>
          <p:cNvPr id="6" name="card"/>
          <p:cNvSpPr/>
          <p:nvPr/>
        </p:nvSpPr>
        <p:spPr>
          <a:xfrm>
            <a:off x="457200" y="3840480"/>
            <a:ext cx="1965960" cy="914400"/>
          </a:xfrm>
          <a:prstGeom prst="roundRect">
            <a:avLst>
              <a:gd name="adj" fmla="val 8000"/>
            </a:avLst>
          </a:prstGeom>
          <a:solidFill>
            <a:srgbClr val="1B2B4F"/>
          </a:solidFill>
          <a:ln w="12700">
            <a:solidFill>
              <a:srgbClr val="1B2B4F"/>
            </a:solidFill>
            <a:prstDash val="solid"/>
          </a:ln>
        </p:spPr>
      </p:sp>
      <p:sp>
        <p:nvSpPr>
          <p:cNvPr id="7" name="Text 3"/>
          <p:cNvSpPr txBox="1"/>
          <p:nvPr/>
        </p:nvSpPr>
        <p:spPr>
          <a:xfrm>
            <a:off x="566928" y="3886200"/>
            <a:ext cx="1737360" cy="201168"/>
          </a:xfrm>
          <a:prstGeom prst="rect">
            <a:avLst/>
          </a:prstGeom>
          <a:noFill/>
        </p:spPr>
        <p:txBody>
          <a:bodyPr wrap="square" lIns="0" tIns="0" rIns="0" bIns="0" rtlCol="0" anchor="t"/>
          <a:lstStyle/>
          <a:p>
            <a:pPr marL="0" indent="0">
              <a:buNone/>
            </a:pPr>
            <a:r>
              <a:rPr lang="en-US" sz="1200" b="1" dirty="0">
                <a:solidFill>
                  <a:srgbClr val="FCA311"/>
                </a:solidFill>
              </a:rPr>
              <a:t>Scores fast</a:t>
            </a:r>
            <a:endParaRPr lang="en-US" sz="1200" dirty="0"/>
          </a:p>
        </p:txBody>
      </p:sp>
      <p:sp>
        <p:nvSpPr>
          <p:cNvPr id="8" name="Text 4"/>
          <p:cNvSpPr txBox="1"/>
          <p:nvPr/>
        </p:nvSpPr>
        <p:spPr>
          <a:xfrm>
            <a:off x="566928" y="4114800"/>
            <a:ext cx="1783080" cy="621792"/>
          </a:xfrm>
          <a:prstGeom prst="rect">
            <a:avLst/>
          </a:prstGeom>
          <a:noFill/>
        </p:spPr>
        <p:txBody>
          <a:bodyPr wrap="square" lIns="0" tIns="0" rIns="0" bIns="0" rtlCol="0" anchor="t"/>
          <a:lstStyle/>
          <a:p>
            <a:pPr marL="0" indent="0">
              <a:buNone/>
            </a:pPr>
            <a:r>
              <a:rPr lang="en-US" sz="1100" dirty="0">
                <a:solidFill>
                  <a:srgbClr val="F1F4FA"/>
                </a:solidFill>
              </a:rPr>
              <a:t>Powerplay: Gujarat Lions 8.63</a:t>
            </a:r>
            <a:endParaRPr lang="en-US" sz="1100" dirty="0"/>
          </a:p>
          <a:p>
            <a:pPr marL="0" indent="0">
              <a:buNone/>
            </a:pPr>
            <a:r>
              <a:rPr lang="en-US" sz="1100" dirty="0">
                <a:solidFill>
                  <a:srgbClr val="F1F4FA"/>
                </a:solidFill>
              </a:rPr>
              <a:t>Death: Gujarat Titans 11.37</a:t>
            </a:r>
            <a:endParaRPr lang="en-US" sz="1100" dirty="0"/>
          </a:p>
        </p:txBody>
      </p:sp>
      <p:sp>
        <p:nvSpPr>
          <p:cNvPr id="9" name="card"/>
          <p:cNvSpPr/>
          <p:nvPr/>
        </p:nvSpPr>
        <p:spPr>
          <a:xfrm>
            <a:off x="2514600" y="3840480"/>
            <a:ext cx="1965960" cy="914400"/>
          </a:xfrm>
          <a:prstGeom prst="roundRect">
            <a:avLst>
              <a:gd name="adj" fmla="val 8000"/>
            </a:avLst>
          </a:prstGeom>
          <a:solidFill>
            <a:srgbClr val="1B2B4F"/>
          </a:solidFill>
          <a:ln w="12700">
            <a:solidFill>
              <a:srgbClr val="1B2B4F"/>
            </a:solidFill>
            <a:prstDash val="solid"/>
          </a:ln>
        </p:spPr>
      </p:sp>
      <p:sp>
        <p:nvSpPr>
          <p:cNvPr id="10" name="Text 6"/>
          <p:cNvSpPr txBox="1"/>
          <p:nvPr/>
        </p:nvSpPr>
        <p:spPr>
          <a:xfrm>
            <a:off x="2624328" y="3886200"/>
            <a:ext cx="1737360" cy="201168"/>
          </a:xfrm>
          <a:prstGeom prst="rect">
            <a:avLst/>
          </a:prstGeom>
          <a:noFill/>
        </p:spPr>
        <p:txBody>
          <a:bodyPr wrap="square" lIns="0" tIns="0" rIns="0" bIns="0" rtlCol="0" anchor="t"/>
          <a:lstStyle/>
          <a:p>
            <a:pPr marL="0" indent="0">
              <a:buNone/>
            </a:pPr>
            <a:r>
              <a:rPr lang="en-US" sz="1200" b="1" dirty="0">
                <a:solidFill>
                  <a:srgbClr val="FCA311"/>
                </a:solidFill>
              </a:rPr>
              <a:t>Restricts runs</a:t>
            </a:r>
            <a:endParaRPr lang="en-US" sz="1200" dirty="0"/>
          </a:p>
        </p:txBody>
      </p:sp>
      <p:sp>
        <p:nvSpPr>
          <p:cNvPr id="11" name="Text 7"/>
          <p:cNvSpPr txBox="1"/>
          <p:nvPr/>
        </p:nvSpPr>
        <p:spPr>
          <a:xfrm>
            <a:off x="2624328" y="4114800"/>
            <a:ext cx="1783080" cy="621792"/>
          </a:xfrm>
          <a:prstGeom prst="rect">
            <a:avLst/>
          </a:prstGeom>
          <a:noFill/>
        </p:spPr>
        <p:txBody>
          <a:bodyPr wrap="square" lIns="0" tIns="0" rIns="0" bIns="0" rtlCol="0" anchor="t"/>
          <a:lstStyle/>
          <a:p>
            <a:pPr marL="0" indent="0">
              <a:buNone/>
            </a:pPr>
            <a:r>
              <a:rPr lang="en-US" sz="1100" dirty="0">
                <a:solidFill>
                  <a:srgbClr val="F1F4FA"/>
                </a:solidFill>
              </a:rPr>
              <a:t>Powerplay: Deccan Chargers 7.00</a:t>
            </a:r>
            <a:endParaRPr lang="en-US" sz="1100" dirty="0"/>
          </a:p>
          <a:p>
            <a:pPr marL="0" indent="0">
              <a:buNone/>
            </a:pPr>
            <a:r>
              <a:rPr lang="en-US" sz="1100" dirty="0">
                <a:solidFill>
                  <a:srgbClr val="F1F4FA"/>
                </a:solidFill>
              </a:rPr>
              <a:t>Death: Mumbai Indians 9.60</a:t>
            </a:r>
            <a:endParaRPr lang="en-US" sz="1100" dirty="0"/>
          </a:p>
        </p:txBody>
      </p:sp>
      <p:sp>
        <p:nvSpPr>
          <p:cNvPr id="12" name="card"/>
          <p:cNvSpPr/>
          <p:nvPr/>
        </p:nvSpPr>
        <p:spPr>
          <a:xfrm>
            <a:off x="4572000" y="3840480"/>
            <a:ext cx="1965960" cy="914400"/>
          </a:xfrm>
          <a:prstGeom prst="roundRect">
            <a:avLst>
              <a:gd name="adj" fmla="val 8000"/>
            </a:avLst>
          </a:prstGeom>
          <a:solidFill>
            <a:srgbClr val="1B2B4F"/>
          </a:solidFill>
          <a:ln w="12700">
            <a:solidFill>
              <a:srgbClr val="1B2B4F"/>
            </a:solidFill>
            <a:prstDash val="solid"/>
          </a:ln>
        </p:spPr>
      </p:sp>
      <p:sp>
        <p:nvSpPr>
          <p:cNvPr id="13" name="Text 9"/>
          <p:cNvSpPr txBox="1"/>
          <p:nvPr/>
        </p:nvSpPr>
        <p:spPr>
          <a:xfrm>
            <a:off x="4681728" y="3886200"/>
            <a:ext cx="1737360" cy="201168"/>
          </a:xfrm>
          <a:prstGeom prst="rect">
            <a:avLst/>
          </a:prstGeom>
          <a:noFill/>
        </p:spPr>
        <p:txBody>
          <a:bodyPr wrap="square" lIns="0" tIns="0" rIns="0" bIns="0" rtlCol="0" anchor="t"/>
          <a:lstStyle/>
          <a:p>
            <a:pPr marL="0" indent="0">
              <a:buNone/>
            </a:pPr>
            <a:r>
              <a:rPr lang="en-US" sz="1200" b="1" dirty="0">
                <a:solidFill>
                  <a:srgbClr val="FCA311"/>
                </a:solidFill>
              </a:rPr>
              <a:t>Why death overs</a:t>
            </a:r>
            <a:endParaRPr lang="en-US" sz="1200" dirty="0"/>
          </a:p>
        </p:txBody>
      </p:sp>
      <p:sp>
        <p:nvSpPr>
          <p:cNvPr id="14" name="Text 10"/>
          <p:cNvSpPr txBox="1"/>
          <p:nvPr/>
        </p:nvSpPr>
        <p:spPr>
          <a:xfrm>
            <a:off x="4681728" y="4114800"/>
            <a:ext cx="1783080" cy="621792"/>
          </a:xfrm>
          <a:prstGeom prst="rect">
            <a:avLst/>
          </a:prstGeom>
          <a:noFill/>
        </p:spPr>
        <p:txBody>
          <a:bodyPr wrap="square" lIns="0" tIns="0" rIns="0" bIns="0" rtlCol="0" anchor="t"/>
          <a:lstStyle/>
          <a:p>
            <a:pPr marL="0" indent="0">
              <a:buNone/>
            </a:pPr>
            <a:r>
              <a:rPr lang="en-US" sz="1100" dirty="0">
                <a:solidFill>
                  <a:srgbClr val="F1F4FA"/>
                </a:solidFill>
              </a:rPr>
              <a:t>League run rate 10.23 vs 7.85–7.90 earlier; a wicket every 10.9 balls</a:t>
            </a:r>
            <a:endParaRPr lang="en-US" sz="1100" dirty="0"/>
          </a:p>
        </p:txBody>
      </p:sp>
      <p:sp>
        <p:nvSpPr>
          <p:cNvPr id="15" name="card"/>
          <p:cNvSpPr/>
          <p:nvPr/>
        </p:nvSpPr>
        <p:spPr>
          <a:xfrm>
            <a:off x="6629400" y="3840480"/>
            <a:ext cx="1965960" cy="914400"/>
          </a:xfrm>
          <a:prstGeom prst="roundRect">
            <a:avLst>
              <a:gd name="adj" fmla="val 8000"/>
            </a:avLst>
          </a:prstGeom>
          <a:solidFill>
            <a:srgbClr val="1B2B4F"/>
          </a:solidFill>
          <a:ln w="12700">
            <a:solidFill>
              <a:srgbClr val="1B2B4F"/>
            </a:solidFill>
            <a:prstDash val="solid"/>
          </a:ln>
        </p:spPr>
      </p:sp>
      <p:sp>
        <p:nvSpPr>
          <p:cNvPr id="16" name="Text 12"/>
          <p:cNvSpPr txBox="1"/>
          <p:nvPr/>
        </p:nvSpPr>
        <p:spPr>
          <a:xfrm>
            <a:off x="6739128" y="3886200"/>
            <a:ext cx="1737360" cy="201168"/>
          </a:xfrm>
          <a:prstGeom prst="rect">
            <a:avLst/>
          </a:prstGeom>
          <a:noFill/>
        </p:spPr>
        <p:txBody>
          <a:bodyPr wrap="square" lIns="0" tIns="0" rIns="0" bIns="0" rtlCol="0" anchor="t"/>
          <a:lstStyle/>
          <a:p>
            <a:pPr marL="0" indent="0">
              <a:buNone/>
            </a:pPr>
            <a:r>
              <a:rPr lang="en-US" sz="1200" b="1" dirty="0">
                <a:solidFill>
                  <a:srgbClr val="FCA311"/>
                </a:solidFill>
              </a:rPr>
              <a:t>Tactical use</a:t>
            </a:r>
            <a:endParaRPr lang="en-US" sz="1200" dirty="0"/>
          </a:p>
        </p:txBody>
      </p:sp>
      <p:sp>
        <p:nvSpPr>
          <p:cNvPr id="17" name="Text 13"/>
          <p:cNvSpPr txBox="1"/>
          <p:nvPr/>
        </p:nvSpPr>
        <p:spPr>
          <a:xfrm>
            <a:off x="6739128" y="4114800"/>
            <a:ext cx="1783080" cy="621792"/>
          </a:xfrm>
          <a:prstGeom prst="rect">
            <a:avLst/>
          </a:prstGeom>
          <a:noFill/>
        </p:spPr>
        <p:txBody>
          <a:bodyPr wrap="square" lIns="0" tIns="0" rIns="0" bIns="0" rtlCol="0" anchor="t"/>
          <a:lstStyle/>
          <a:p>
            <a:pPr marL="0" indent="0">
              <a:buNone/>
            </a:pPr>
            <a:r>
              <a:rPr lang="en-US" sz="1100" dirty="0">
                <a:solidFill>
                  <a:srgbClr val="F1F4FA"/>
                </a:solidFill>
              </a:rPr>
              <a:t>Match bowlers and finishers to the phase where a rival is weakest</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04 · TEAM COMPARISON</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Batting First Versus Chasing</a:t>
            </a:r>
            <a:endParaRPr lang="en-US" sz="2600" dirty="0"/>
          </a:p>
        </p:txBody>
      </p:sp>
      <p:pic>
        <p:nvPicPr>
          <p:cNvPr id="5" name="Image 0" descr="Horizontal bar chart: win percentage batting first versus chasing, by team"/>
          <p:cNvPicPr>
            <a:picLocks noChangeAspect="1"/>
          </p:cNvPicPr>
          <p:nvPr/>
        </p:nvPicPr>
        <p:blipFill>
          <a:blip r:embed="rId1"/>
          <a:stretch>
            <a:fillRect/>
          </a:stretch>
        </p:blipFill>
        <p:spPr>
          <a:xfrm>
            <a:off x="457200" y="1277938"/>
            <a:ext cx="4937760" cy="2884804"/>
          </a:xfrm>
          <a:prstGeom prst="rect">
            <a:avLst/>
          </a:prstGeom>
        </p:spPr>
      </p:pic>
      <p:sp>
        <p:nvSpPr>
          <p:cNvPr id="6" name="card"/>
          <p:cNvSpPr/>
          <p:nvPr/>
        </p:nvSpPr>
        <p:spPr>
          <a:xfrm>
            <a:off x="5577840" y="1005840"/>
            <a:ext cx="3108960" cy="1078992"/>
          </a:xfrm>
          <a:prstGeom prst="roundRect">
            <a:avLst>
              <a:gd name="adj" fmla="val 6780"/>
            </a:avLst>
          </a:prstGeom>
          <a:solidFill>
            <a:srgbClr val="1B2B4F"/>
          </a:solidFill>
          <a:ln w="12700">
            <a:solidFill>
              <a:srgbClr val="1B2B4F"/>
            </a:solidFill>
            <a:prstDash val="solid"/>
          </a:ln>
        </p:spPr>
      </p:sp>
      <p:sp>
        <p:nvSpPr>
          <p:cNvPr id="7" name="Text 3"/>
          <p:cNvSpPr txBox="1"/>
          <p:nvPr/>
        </p:nvSpPr>
        <p:spPr>
          <a:xfrm>
            <a:off x="5715000" y="1078992"/>
            <a:ext cx="2834640" cy="228600"/>
          </a:xfrm>
          <a:prstGeom prst="rect">
            <a:avLst/>
          </a:prstGeom>
          <a:noFill/>
        </p:spPr>
        <p:txBody>
          <a:bodyPr wrap="square" lIns="0" tIns="0" rIns="0" bIns="0" rtlCol="0" anchor="t"/>
          <a:lstStyle/>
          <a:p>
            <a:pPr marL="0" indent="0">
              <a:buNone/>
            </a:pPr>
            <a:r>
              <a:rPr lang="en-US" sz="1200" b="1" dirty="0">
                <a:solidFill>
                  <a:srgbClr val="FCA311"/>
                </a:solidFill>
              </a:rPr>
              <a:t>Biggest chasing edge</a:t>
            </a:r>
            <a:endParaRPr lang="en-US" sz="1200" dirty="0"/>
          </a:p>
        </p:txBody>
      </p:sp>
      <p:sp>
        <p:nvSpPr>
          <p:cNvPr id="8" name="Text 4"/>
          <p:cNvSpPr txBox="1"/>
          <p:nvPr/>
        </p:nvSpPr>
        <p:spPr>
          <a:xfrm>
            <a:off x="5715000" y="1353312"/>
            <a:ext cx="2834640" cy="685800"/>
          </a:xfrm>
          <a:prstGeom prst="rect">
            <a:avLst/>
          </a:prstGeom>
          <a:noFill/>
        </p:spPr>
        <p:txBody>
          <a:bodyPr wrap="square" lIns="0" tIns="0" rIns="0" bIns="0" rtlCol="0" anchor="t"/>
          <a:lstStyle/>
          <a:p>
            <a:pPr marL="0" indent="0">
              <a:buNone/>
            </a:pPr>
            <a:r>
              <a:rPr lang="en-US" sz="1200" dirty="0">
                <a:solidFill>
                  <a:srgbClr val="F1F4FA"/>
                </a:solidFill>
              </a:rPr>
              <a:t>Kolkata Knight Riders: 59.5% chasing vs 44.2% batting first (+15.4 pts)</a:t>
            </a:r>
            <a:endParaRPr lang="en-US" sz="1200" dirty="0"/>
          </a:p>
        </p:txBody>
      </p:sp>
      <p:sp>
        <p:nvSpPr>
          <p:cNvPr id="9" name="card"/>
          <p:cNvSpPr/>
          <p:nvPr/>
        </p:nvSpPr>
        <p:spPr>
          <a:xfrm>
            <a:off x="5577840" y="2176272"/>
            <a:ext cx="3108960" cy="1078992"/>
          </a:xfrm>
          <a:prstGeom prst="roundRect">
            <a:avLst>
              <a:gd name="adj" fmla="val 6780"/>
            </a:avLst>
          </a:prstGeom>
          <a:solidFill>
            <a:srgbClr val="1B2B4F"/>
          </a:solidFill>
          <a:ln w="12700">
            <a:solidFill>
              <a:srgbClr val="1B2B4F"/>
            </a:solidFill>
            <a:prstDash val="solid"/>
          </a:ln>
        </p:spPr>
      </p:sp>
      <p:sp>
        <p:nvSpPr>
          <p:cNvPr id="10" name="Text 6"/>
          <p:cNvSpPr txBox="1"/>
          <p:nvPr/>
        </p:nvSpPr>
        <p:spPr>
          <a:xfrm>
            <a:off x="5715000" y="2249424"/>
            <a:ext cx="2834640" cy="228600"/>
          </a:xfrm>
          <a:prstGeom prst="rect">
            <a:avLst/>
          </a:prstGeom>
          <a:noFill/>
        </p:spPr>
        <p:txBody>
          <a:bodyPr wrap="square" lIns="0" tIns="0" rIns="0" bIns="0" rtlCol="0" anchor="t"/>
          <a:lstStyle/>
          <a:p>
            <a:pPr marL="0" indent="0">
              <a:buNone/>
            </a:pPr>
            <a:r>
              <a:rPr lang="en-US" sz="1200" b="1" dirty="0">
                <a:solidFill>
                  <a:srgbClr val="FCA311"/>
                </a:solidFill>
              </a:rPr>
              <a:t>Biggest defending edge</a:t>
            </a:r>
            <a:endParaRPr lang="en-US" sz="1200" dirty="0"/>
          </a:p>
        </p:txBody>
      </p:sp>
      <p:sp>
        <p:nvSpPr>
          <p:cNvPr id="11" name="Text 7"/>
          <p:cNvSpPr txBox="1"/>
          <p:nvPr/>
        </p:nvSpPr>
        <p:spPr>
          <a:xfrm>
            <a:off x="5715000" y="2523744"/>
            <a:ext cx="2834640" cy="685800"/>
          </a:xfrm>
          <a:prstGeom prst="rect">
            <a:avLst/>
          </a:prstGeom>
          <a:noFill/>
        </p:spPr>
        <p:txBody>
          <a:bodyPr wrap="square" lIns="0" tIns="0" rIns="0" bIns="0" rtlCol="0" anchor="t"/>
          <a:lstStyle/>
          <a:p>
            <a:pPr marL="0" indent="0">
              <a:buNone/>
            </a:pPr>
            <a:r>
              <a:rPr lang="en-US" sz="1200" dirty="0">
                <a:solidFill>
                  <a:srgbClr val="F1F4FA"/>
                </a:solidFill>
              </a:rPr>
              <a:t>Deccan Chargers: 41.9% batting first vs 34.4% chasing (+7.5 pts)</a:t>
            </a:r>
            <a:endParaRPr lang="en-US" sz="1200" dirty="0"/>
          </a:p>
        </p:txBody>
      </p:sp>
      <p:sp>
        <p:nvSpPr>
          <p:cNvPr id="12" name="card"/>
          <p:cNvSpPr/>
          <p:nvPr/>
        </p:nvSpPr>
        <p:spPr>
          <a:xfrm>
            <a:off x="5577840" y="3346704"/>
            <a:ext cx="3108960" cy="1078992"/>
          </a:xfrm>
          <a:prstGeom prst="roundRect">
            <a:avLst>
              <a:gd name="adj" fmla="val 6780"/>
            </a:avLst>
          </a:prstGeom>
          <a:solidFill>
            <a:srgbClr val="1B2B4F"/>
          </a:solidFill>
          <a:ln w="12700">
            <a:solidFill>
              <a:srgbClr val="1B2B4F"/>
            </a:solidFill>
            <a:prstDash val="solid"/>
          </a:ln>
        </p:spPr>
      </p:sp>
      <p:sp>
        <p:nvSpPr>
          <p:cNvPr id="13" name="Text 9"/>
          <p:cNvSpPr txBox="1"/>
          <p:nvPr/>
        </p:nvSpPr>
        <p:spPr>
          <a:xfrm>
            <a:off x="5715000" y="3419856"/>
            <a:ext cx="2834640" cy="228600"/>
          </a:xfrm>
          <a:prstGeom prst="rect">
            <a:avLst/>
          </a:prstGeom>
          <a:noFill/>
        </p:spPr>
        <p:txBody>
          <a:bodyPr wrap="square" lIns="0" tIns="0" rIns="0" bIns="0" rtlCol="0" anchor="t"/>
          <a:lstStyle/>
          <a:p>
            <a:pPr marL="0" indent="0">
              <a:buNone/>
            </a:pPr>
            <a:r>
              <a:rPr lang="en-US" sz="1200" b="1" dirty="0">
                <a:solidFill>
                  <a:srgbClr val="FCA311"/>
                </a:solidFill>
              </a:rPr>
              <a:t>Preparation</a:t>
            </a:r>
            <a:endParaRPr lang="en-US" sz="1200" dirty="0"/>
          </a:p>
        </p:txBody>
      </p:sp>
      <p:sp>
        <p:nvSpPr>
          <p:cNvPr id="14" name="Text 10"/>
          <p:cNvSpPr txBox="1"/>
          <p:nvPr/>
        </p:nvSpPr>
        <p:spPr>
          <a:xfrm>
            <a:off x="5715000" y="3694176"/>
            <a:ext cx="2834640" cy="685800"/>
          </a:xfrm>
          <a:prstGeom prst="rect">
            <a:avLst/>
          </a:prstGeom>
          <a:noFill/>
        </p:spPr>
        <p:txBody>
          <a:bodyPr wrap="square" lIns="0" tIns="0" rIns="0" bIns="0" rtlCol="0" anchor="t"/>
          <a:lstStyle/>
          <a:p>
            <a:pPr marL="0" indent="0">
              <a:buNone/>
            </a:pPr>
            <a:r>
              <a:rPr lang="en-US" sz="1200" dirty="0">
                <a:solidFill>
                  <a:srgbClr val="F1F4FA"/>
                </a:solidFill>
              </a:rPr>
              <a:t>A large gap flags a role-specific weakness: practise defending totals and chasing targets separately</a:t>
            </a:r>
            <a:endParaRPr lang="en-US" sz="1200" dirty="0"/>
          </a:p>
        </p:txBody>
      </p:sp>
      <p:sp>
        <p:nvSpPr>
          <p:cNvPr id="15" name="Text 11"/>
          <p:cNvSpPr txBox="1"/>
          <p:nvPr/>
        </p:nvSpPr>
        <p:spPr>
          <a:xfrm>
            <a:off x="457200" y="4526280"/>
            <a:ext cx="8229600" cy="201168"/>
          </a:xfrm>
          <a:prstGeom prst="rect">
            <a:avLst/>
          </a:prstGeom>
          <a:noFill/>
        </p:spPr>
        <p:txBody>
          <a:bodyPr wrap="square" lIns="0" tIns="0" rIns="0" bIns="0" rtlCol="0" anchor="t"/>
          <a:lstStyle/>
          <a:p>
            <a:pPr marL="0" indent="0">
              <a:buNone/>
            </a:pPr>
            <a:r>
              <a:rPr lang="en-US" sz="1000" dirty="0">
                <a:solidFill>
                  <a:srgbClr val="9AA5B8"/>
                </a:solidFill>
              </a:rPr>
              <a:t>Gap = win % chasing − win % batting first. Teams with ≥30 batting-first innings.</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05 · HYPOTHESIS TESTING</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Statistical Hypothesis Testing</a:t>
            </a:r>
            <a:endParaRPr lang="en-US" sz="2600" dirty="0"/>
          </a:p>
        </p:txBody>
      </p:sp>
      <p:sp>
        <p:nvSpPr>
          <p:cNvPr id="5" name="card"/>
          <p:cNvSpPr/>
          <p:nvPr/>
        </p:nvSpPr>
        <p:spPr>
          <a:xfrm>
            <a:off x="457200" y="1005840"/>
            <a:ext cx="5394960" cy="475488"/>
          </a:xfrm>
          <a:prstGeom prst="roundRect">
            <a:avLst>
              <a:gd name="adj" fmla="val 15385"/>
            </a:avLst>
          </a:prstGeom>
          <a:solidFill>
            <a:srgbClr val="1B2B4F"/>
          </a:solidFill>
          <a:ln w="12700">
            <a:solidFill>
              <a:srgbClr val="1B2B4F"/>
            </a:solidFill>
            <a:prstDash val="solid"/>
          </a:ln>
        </p:spPr>
      </p:sp>
      <p:sp>
        <p:nvSpPr>
          <p:cNvPr id="6" name="Text 3"/>
          <p:cNvSpPr/>
          <p:nvPr/>
        </p:nvSpPr>
        <p:spPr>
          <a:xfrm>
            <a:off x="530352" y="1088136"/>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H1</a:t>
            </a:r>
            <a:endParaRPr lang="en-US" sz="1100" dirty="0"/>
          </a:p>
        </p:txBody>
      </p:sp>
      <p:sp>
        <p:nvSpPr>
          <p:cNvPr id="7" name="Text 4"/>
          <p:cNvSpPr txBox="1"/>
          <p:nvPr/>
        </p:nvSpPr>
        <p:spPr>
          <a:xfrm>
            <a:off x="1033272" y="1042416"/>
            <a:ext cx="3017520" cy="402336"/>
          </a:xfrm>
          <a:prstGeom prst="rect">
            <a:avLst/>
          </a:prstGeom>
          <a:noFill/>
        </p:spPr>
        <p:txBody>
          <a:bodyPr wrap="square" lIns="0" tIns="0" rIns="0" bIns="0" rtlCol="0" anchor="ctr"/>
          <a:lstStyle/>
          <a:p>
            <a:pPr marL="0" indent="0">
              <a:buNone/>
            </a:pPr>
            <a:r>
              <a:rPr lang="en-US" sz="1100" dirty="0">
                <a:solidFill>
                  <a:srgbClr val="F1F4FA"/>
                </a:solidFill>
              </a:rPr>
              <a:t>Winning and losing innings differ in mean run rate</a:t>
            </a:r>
            <a:endParaRPr lang="en-US" sz="1100" dirty="0"/>
          </a:p>
        </p:txBody>
      </p:sp>
      <p:sp>
        <p:nvSpPr>
          <p:cNvPr id="8" name="Text 5"/>
          <p:cNvSpPr txBox="1"/>
          <p:nvPr/>
        </p:nvSpPr>
        <p:spPr>
          <a:xfrm>
            <a:off x="4160520" y="1042416"/>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Welch t-test</a:t>
            </a:r>
            <a:endParaRPr lang="en-US" sz="1100" dirty="0"/>
          </a:p>
        </p:txBody>
      </p:sp>
      <p:sp>
        <p:nvSpPr>
          <p:cNvPr id="9" name="card"/>
          <p:cNvSpPr/>
          <p:nvPr/>
        </p:nvSpPr>
        <p:spPr>
          <a:xfrm>
            <a:off x="457200" y="1536192"/>
            <a:ext cx="5394960" cy="475488"/>
          </a:xfrm>
          <a:prstGeom prst="roundRect">
            <a:avLst>
              <a:gd name="adj" fmla="val 15385"/>
            </a:avLst>
          </a:prstGeom>
          <a:solidFill>
            <a:srgbClr val="1B2B4F"/>
          </a:solidFill>
          <a:ln w="12700">
            <a:solidFill>
              <a:srgbClr val="1B2B4F"/>
            </a:solidFill>
            <a:prstDash val="solid"/>
          </a:ln>
        </p:spPr>
      </p:sp>
      <p:sp>
        <p:nvSpPr>
          <p:cNvPr id="10" name="Text 7"/>
          <p:cNvSpPr/>
          <p:nvPr/>
        </p:nvSpPr>
        <p:spPr>
          <a:xfrm>
            <a:off x="530352" y="1618488"/>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H2</a:t>
            </a:r>
            <a:endParaRPr lang="en-US" sz="1100" dirty="0"/>
          </a:p>
        </p:txBody>
      </p:sp>
      <p:sp>
        <p:nvSpPr>
          <p:cNvPr id="11" name="Text 8"/>
          <p:cNvSpPr txBox="1"/>
          <p:nvPr/>
        </p:nvSpPr>
        <p:spPr>
          <a:xfrm>
            <a:off x="1033272" y="1572768"/>
            <a:ext cx="3017520" cy="402336"/>
          </a:xfrm>
          <a:prstGeom prst="rect">
            <a:avLst/>
          </a:prstGeom>
          <a:noFill/>
        </p:spPr>
        <p:txBody>
          <a:bodyPr wrap="square" lIns="0" tIns="0" rIns="0" bIns="0" rtlCol="0" anchor="ctr"/>
          <a:lstStyle/>
          <a:p>
            <a:pPr marL="0" indent="0">
              <a:buNone/>
            </a:pPr>
            <a:r>
              <a:rPr lang="en-US" sz="1100" dirty="0">
                <a:solidFill>
                  <a:srgbClr val="F1F4FA"/>
                </a:solidFill>
              </a:rPr>
              <a:t>Winning and losing innings differ in dot-ball %</a:t>
            </a:r>
            <a:endParaRPr lang="en-US" sz="1100" dirty="0"/>
          </a:p>
        </p:txBody>
      </p:sp>
      <p:sp>
        <p:nvSpPr>
          <p:cNvPr id="12" name="Text 9"/>
          <p:cNvSpPr txBox="1"/>
          <p:nvPr/>
        </p:nvSpPr>
        <p:spPr>
          <a:xfrm>
            <a:off x="4160520" y="1572768"/>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Welch t-test</a:t>
            </a:r>
            <a:endParaRPr lang="en-US" sz="1100" dirty="0"/>
          </a:p>
        </p:txBody>
      </p:sp>
      <p:sp>
        <p:nvSpPr>
          <p:cNvPr id="13" name="card"/>
          <p:cNvSpPr/>
          <p:nvPr/>
        </p:nvSpPr>
        <p:spPr>
          <a:xfrm>
            <a:off x="457200" y="2066544"/>
            <a:ext cx="5394960" cy="475488"/>
          </a:xfrm>
          <a:prstGeom prst="roundRect">
            <a:avLst>
              <a:gd name="adj" fmla="val 15385"/>
            </a:avLst>
          </a:prstGeom>
          <a:solidFill>
            <a:srgbClr val="1B2B4F"/>
          </a:solidFill>
          <a:ln w="12700">
            <a:solidFill>
              <a:srgbClr val="1B2B4F"/>
            </a:solidFill>
            <a:prstDash val="solid"/>
          </a:ln>
        </p:spPr>
      </p:sp>
      <p:sp>
        <p:nvSpPr>
          <p:cNvPr id="14" name="Text 11"/>
          <p:cNvSpPr/>
          <p:nvPr/>
        </p:nvSpPr>
        <p:spPr>
          <a:xfrm>
            <a:off x="530352" y="2148840"/>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H3</a:t>
            </a:r>
            <a:endParaRPr lang="en-US" sz="1100" dirty="0"/>
          </a:p>
        </p:txBody>
      </p:sp>
      <p:sp>
        <p:nvSpPr>
          <p:cNvPr id="15" name="Text 12"/>
          <p:cNvSpPr txBox="1"/>
          <p:nvPr/>
        </p:nvSpPr>
        <p:spPr>
          <a:xfrm>
            <a:off x="1033272" y="2103120"/>
            <a:ext cx="3017520" cy="402336"/>
          </a:xfrm>
          <a:prstGeom prst="rect">
            <a:avLst/>
          </a:prstGeom>
          <a:noFill/>
        </p:spPr>
        <p:txBody>
          <a:bodyPr wrap="square" lIns="0" tIns="0" rIns="0" bIns="0" rtlCol="0" anchor="ctr"/>
          <a:lstStyle/>
          <a:p>
            <a:pPr marL="0" indent="0">
              <a:buNone/>
            </a:pPr>
            <a:r>
              <a:rPr lang="en-US" sz="1100" dirty="0">
                <a:solidFill>
                  <a:srgbClr val="F1F4FA"/>
                </a:solidFill>
              </a:rPr>
              <a:t>Mean run rate differs between 1st and 2nd innings</a:t>
            </a:r>
            <a:endParaRPr lang="en-US" sz="1100" dirty="0"/>
          </a:p>
        </p:txBody>
      </p:sp>
      <p:sp>
        <p:nvSpPr>
          <p:cNvPr id="16" name="Text 13"/>
          <p:cNvSpPr txBox="1"/>
          <p:nvPr/>
        </p:nvSpPr>
        <p:spPr>
          <a:xfrm>
            <a:off x="4160520" y="2103120"/>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Welch t-test</a:t>
            </a:r>
            <a:endParaRPr lang="en-US" sz="1100" dirty="0"/>
          </a:p>
        </p:txBody>
      </p:sp>
      <p:sp>
        <p:nvSpPr>
          <p:cNvPr id="17" name="card"/>
          <p:cNvSpPr/>
          <p:nvPr/>
        </p:nvSpPr>
        <p:spPr>
          <a:xfrm>
            <a:off x="457200" y="2596896"/>
            <a:ext cx="5394960" cy="475488"/>
          </a:xfrm>
          <a:prstGeom prst="roundRect">
            <a:avLst>
              <a:gd name="adj" fmla="val 15385"/>
            </a:avLst>
          </a:prstGeom>
          <a:solidFill>
            <a:srgbClr val="1B2B4F"/>
          </a:solidFill>
          <a:ln w="12700">
            <a:solidFill>
              <a:srgbClr val="1B2B4F"/>
            </a:solidFill>
            <a:prstDash val="solid"/>
          </a:ln>
        </p:spPr>
      </p:sp>
      <p:sp>
        <p:nvSpPr>
          <p:cNvPr id="18" name="Text 15"/>
          <p:cNvSpPr/>
          <p:nvPr/>
        </p:nvSpPr>
        <p:spPr>
          <a:xfrm>
            <a:off x="530352" y="2679192"/>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H4</a:t>
            </a:r>
            <a:endParaRPr lang="en-US" sz="1100" dirty="0"/>
          </a:p>
        </p:txBody>
      </p:sp>
      <p:sp>
        <p:nvSpPr>
          <p:cNvPr id="19" name="Text 16"/>
          <p:cNvSpPr txBox="1"/>
          <p:nvPr/>
        </p:nvSpPr>
        <p:spPr>
          <a:xfrm>
            <a:off x="1033272" y="2633472"/>
            <a:ext cx="3017520" cy="402336"/>
          </a:xfrm>
          <a:prstGeom prst="rect">
            <a:avLst/>
          </a:prstGeom>
          <a:noFill/>
        </p:spPr>
        <p:txBody>
          <a:bodyPr wrap="square" lIns="0" tIns="0" rIns="0" bIns="0" rtlCol="0" anchor="ctr"/>
          <a:lstStyle/>
          <a:p>
            <a:pPr marL="0" indent="0">
              <a:buNone/>
            </a:pPr>
            <a:r>
              <a:rPr lang="en-US" sz="1100" dirty="0">
                <a:solidFill>
                  <a:srgbClr val="F1F4FA"/>
                </a:solidFill>
              </a:rPr>
              <a:t>Losing 3+ powerplay wickets is associated with the match result</a:t>
            </a:r>
            <a:endParaRPr lang="en-US" sz="1100" dirty="0"/>
          </a:p>
        </p:txBody>
      </p:sp>
      <p:sp>
        <p:nvSpPr>
          <p:cNvPr id="20" name="Text 17"/>
          <p:cNvSpPr txBox="1"/>
          <p:nvPr/>
        </p:nvSpPr>
        <p:spPr>
          <a:xfrm>
            <a:off x="4160520" y="2633472"/>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Chi-square</a:t>
            </a:r>
            <a:endParaRPr lang="en-US" sz="1100" dirty="0"/>
          </a:p>
        </p:txBody>
      </p:sp>
      <p:sp>
        <p:nvSpPr>
          <p:cNvPr id="21" name="card"/>
          <p:cNvSpPr/>
          <p:nvPr/>
        </p:nvSpPr>
        <p:spPr>
          <a:xfrm>
            <a:off x="457200" y="3127248"/>
            <a:ext cx="5394960" cy="475488"/>
          </a:xfrm>
          <a:prstGeom prst="roundRect">
            <a:avLst>
              <a:gd name="adj" fmla="val 15385"/>
            </a:avLst>
          </a:prstGeom>
          <a:solidFill>
            <a:srgbClr val="1B2B4F"/>
          </a:solidFill>
          <a:ln w="12700">
            <a:solidFill>
              <a:srgbClr val="1B2B4F"/>
            </a:solidFill>
            <a:prstDash val="solid"/>
          </a:ln>
        </p:spPr>
      </p:sp>
      <p:sp>
        <p:nvSpPr>
          <p:cNvPr id="22" name="Text 19"/>
          <p:cNvSpPr/>
          <p:nvPr/>
        </p:nvSpPr>
        <p:spPr>
          <a:xfrm>
            <a:off x="530352" y="3209544"/>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H5</a:t>
            </a:r>
            <a:endParaRPr lang="en-US" sz="1100" dirty="0"/>
          </a:p>
        </p:txBody>
      </p:sp>
      <p:sp>
        <p:nvSpPr>
          <p:cNvPr id="23" name="Text 20"/>
          <p:cNvSpPr txBox="1"/>
          <p:nvPr/>
        </p:nvSpPr>
        <p:spPr>
          <a:xfrm>
            <a:off x="1033272" y="3163824"/>
            <a:ext cx="3017520" cy="402336"/>
          </a:xfrm>
          <a:prstGeom prst="rect">
            <a:avLst/>
          </a:prstGeom>
          <a:noFill/>
        </p:spPr>
        <p:txBody>
          <a:bodyPr wrap="square" lIns="0" tIns="0" rIns="0" bIns="0" rtlCol="0" anchor="ctr"/>
          <a:lstStyle/>
          <a:p>
            <a:pPr marL="0" indent="0">
              <a:buNone/>
            </a:pPr>
            <a:r>
              <a:rPr lang="en-US" sz="1100" dirty="0">
                <a:solidFill>
                  <a:srgbClr val="F1F4FA"/>
                </a:solidFill>
              </a:rPr>
              <a:t>Mean run rate differs: 2008–2015 vs 2016 onwards</a:t>
            </a:r>
            <a:endParaRPr lang="en-US" sz="1100" dirty="0"/>
          </a:p>
        </p:txBody>
      </p:sp>
      <p:sp>
        <p:nvSpPr>
          <p:cNvPr id="24" name="Text 21"/>
          <p:cNvSpPr txBox="1"/>
          <p:nvPr/>
        </p:nvSpPr>
        <p:spPr>
          <a:xfrm>
            <a:off x="4160520" y="3163824"/>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Welch t-test</a:t>
            </a:r>
            <a:endParaRPr lang="en-US" sz="1100" dirty="0"/>
          </a:p>
        </p:txBody>
      </p:sp>
      <p:sp>
        <p:nvSpPr>
          <p:cNvPr id="25" name="card"/>
          <p:cNvSpPr/>
          <p:nvPr/>
        </p:nvSpPr>
        <p:spPr>
          <a:xfrm>
            <a:off x="457200" y="3657600"/>
            <a:ext cx="5394960" cy="475488"/>
          </a:xfrm>
          <a:prstGeom prst="roundRect">
            <a:avLst>
              <a:gd name="adj" fmla="val 15385"/>
            </a:avLst>
          </a:prstGeom>
          <a:solidFill>
            <a:srgbClr val="1B2B4F"/>
          </a:solidFill>
          <a:ln w="12700">
            <a:solidFill>
              <a:srgbClr val="1B2B4F"/>
            </a:solidFill>
            <a:prstDash val="solid"/>
          </a:ln>
        </p:spPr>
      </p:sp>
      <p:sp>
        <p:nvSpPr>
          <p:cNvPr id="26" name="Text 23"/>
          <p:cNvSpPr/>
          <p:nvPr/>
        </p:nvSpPr>
        <p:spPr>
          <a:xfrm>
            <a:off x="530352" y="3739896"/>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H6</a:t>
            </a:r>
            <a:endParaRPr lang="en-US" sz="1100" dirty="0"/>
          </a:p>
        </p:txBody>
      </p:sp>
      <p:sp>
        <p:nvSpPr>
          <p:cNvPr id="27" name="Text 24"/>
          <p:cNvSpPr txBox="1"/>
          <p:nvPr/>
        </p:nvSpPr>
        <p:spPr>
          <a:xfrm>
            <a:off x="1033272" y="3694176"/>
            <a:ext cx="3017520" cy="402336"/>
          </a:xfrm>
          <a:prstGeom prst="rect">
            <a:avLst/>
          </a:prstGeom>
          <a:noFill/>
        </p:spPr>
        <p:txBody>
          <a:bodyPr wrap="square" lIns="0" tIns="0" rIns="0" bIns="0" rtlCol="0" anchor="ctr"/>
          <a:lstStyle/>
          <a:p>
            <a:pPr marL="0" indent="0">
              <a:buNone/>
            </a:pPr>
            <a:r>
              <a:rPr lang="en-US" sz="1100" dirty="0">
                <a:solidFill>
                  <a:srgbClr val="F1F4FA"/>
                </a:solidFill>
              </a:rPr>
              <a:t>Mean run rate differs across franchises (≥100 innings)</a:t>
            </a:r>
            <a:endParaRPr lang="en-US" sz="1100" dirty="0"/>
          </a:p>
        </p:txBody>
      </p:sp>
      <p:sp>
        <p:nvSpPr>
          <p:cNvPr id="28" name="Text 25"/>
          <p:cNvSpPr txBox="1"/>
          <p:nvPr/>
        </p:nvSpPr>
        <p:spPr>
          <a:xfrm>
            <a:off x="4160520" y="3694176"/>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One-way ANOVA</a:t>
            </a:r>
            <a:endParaRPr lang="en-US" sz="1100" dirty="0"/>
          </a:p>
        </p:txBody>
      </p:sp>
      <p:sp>
        <p:nvSpPr>
          <p:cNvPr id="29" name="card"/>
          <p:cNvSpPr/>
          <p:nvPr/>
        </p:nvSpPr>
        <p:spPr>
          <a:xfrm>
            <a:off x="457200" y="4187952"/>
            <a:ext cx="5394960" cy="475488"/>
          </a:xfrm>
          <a:prstGeom prst="roundRect">
            <a:avLst>
              <a:gd name="adj" fmla="val 15385"/>
            </a:avLst>
          </a:prstGeom>
          <a:solidFill>
            <a:srgbClr val="1B2B4F"/>
          </a:solidFill>
          <a:ln w="12700">
            <a:solidFill>
              <a:srgbClr val="1B2B4F"/>
            </a:solidFill>
            <a:prstDash val="solid"/>
          </a:ln>
        </p:spPr>
      </p:sp>
      <p:sp>
        <p:nvSpPr>
          <p:cNvPr id="30" name="Text 27"/>
          <p:cNvSpPr/>
          <p:nvPr/>
        </p:nvSpPr>
        <p:spPr>
          <a:xfrm>
            <a:off x="530352" y="4270248"/>
            <a:ext cx="411480" cy="310896"/>
          </a:xfrm>
          <a:prstGeom prst="roundRect">
            <a:avLst>
              <a:gd name="adj" fmla="val 17647"/>
            </a:avLst>
          </a:prstGeom>
          <a:solidFill>
            <a:srgbClr val="FCA311"/>
          </a:solidFill>
        </p:spPr>
        <p:txBody>
          <a:bodyPr wrap="square" lIns="0" tIns="0" rIns="0" bIns="0" rtlCol="0" anchor="ctr"/>
          <a:lstStyle/>
          <a:p>
            <a:pPr marL="0" indent="0" algn="ctr">
              <a:buNone/>
            </a:pPr>
            <a:r>
              <a:rPr lang="en-US" sz="1100" b="1" dirty="0">
                <a:solidFill>
                  <a:srgbClr val="0A1128"/>
                </a:solidFill>
              </a:rPr>
              <a:t>H7</a:t>
            </a:r>
            <a:endParaRPr lang="en-US" sz="1100" dirty="0"/>
          </a:p>
        </p:txBody>
      </p:sp>
      <p:sp>
        <p:nvSpPr>
          <p:cNvPr id="31" name="Text 28"/>
          <p:cNvSpPr txBox="1"/>
          <p:nvPr/>
        </p:nvSpPr>
        <p:spPr>
          <a:xfrm>
            <a:off x="1033272" y="4224528"/>
            <a:ext cx="3017520" cy="402336"/>
          </a:xfrm>
          <a:prstGeom prst="rect">
            <a:avLst/>
          </a:prstGeom>
          <a:noFill/>
        </p:spPr>
        <p:txBody>
          <a:bodyPr wrap="square" lIns="0" tIns="0" rIns="0" bIns="0" rtlCol="0" anchor="ctr"/>
          <a:lstStyle/>
          <a:p>
            <a:pPr marL="0" indent="0">
              <a:buNone/>
            </a:pPr>
            <a:r>
              <a:rPr lang="en-US" sz="1100" dirty="0">
                <a:solidFill>
                  <a:srgbClr val="F1F4FA"/>
                </a:solidFill>
              </a:rPr>
              <a:t>Winner–loser run-rate gap by phase (PP / middle / death)</a:t>
            </a:r>
            <a:endParaRPr lang="en-US" sz="1100" dirty="0"/>
          </a:p>
        </p:txBody>
      </p:sp>
      <p:sp>
        <p:nvSpPr>
          <p:cNvPr id="32" name="Text 29"/>
          <p:cNvSpPr txBox="1"/>
          <p:nvPr/>
        </p:nvSpPr>
        <p:spPr>
          <a:xfrm>
            <a:off x="4160520" y="4224528"/>
            <a:ext cx="1645920" cy="402336"/>
          </a:xfrm>
          <a:prstGeom prst="rect">
            <a:avLst/>
          </a:prstGeom>
          <a:noFill/>
        </p:spPr>
        <p:txBody>
          <a:bodyPr wrap="square" lIns="0" tIns="0" rIns="0" bIns="0" rtlCol="0" anchor="ctr"/>
          <a:lstStyle/>
          <a:p>
            <a:pPr marL="0" indent="0" algn="r">
              <a:buNone/>
            </a:pPr>
            <a:r>
              <a:rPr lang="en-US" sz="1100" b="1" dirty="0">
                <a:solidFill>
                  <a:srgbClr val="4CC9F0"/>
                </a:solidFill>
              </a:rPr>
              <a:t>Welch t + Cohen's d</a:t>
            </a:r>
            <a:endParaRPr lang="en-US" sz="1100" dirty="0"/>
          </a:p>
        </p:txBody>
      </p:sp>
      <p:sp>
        <p:nvSpPr>
          <p:cNvPr id="33" name="card"/>
          <p:cNvSpPr/>
          <p:nvPr/>
        </p:nvSpPr>
        <p:spPr>
          <a:xfrm>
            <a:off x="6035040" y="1005840"/>
            <a:ext cx="2651760" cy="3657600"/>
          </a:xfrm>
          <a:prstGeom prst="roundRect">
            <a:avLst>
              <a:gd name="adj" fmla="val 2759"/>
            </a:avLst>
          </a:prstGeom>
          <a:solidFill>
            <a:srgbClr val="14213D"/>
          </a:solidFill>
          <a:ln w="12700">
            <a:solidFill>
              <a:srgbClr val="14213D"/>
            </a:solidFill>
            <a:prstDash val="solid"/>
          </a:ln>
        </p:spPr>
      </p:sp>
      <p:sp>
        <p:nvSpPr>
          <p:cNvPr id="34" name="Text 31"/>
          <p:cNvSpPr txBox="1"/>
          <p:nvPr/>
        </p:nvSpPr>
        <p:spPr>
          <a:xfrm>
            <a:off x="6199632" y="1097280"/>
            <a:ext cx="2377440" cy="274320"/>
          </a:xfrm>
          <a:prstGeom prst="rect">
            <a:avLst/>
          </a:prstGeom>
          <a:noFill/>
        </p:spPr>
        <p:txBody>
          <a:bodyPr wrap="square" lIns="0" tIns="0" rIns="0" bIns="0" rtlCol="0" anchor="t"/>
          <a:lstStyle/>
          <a:p>
            <a:pPr marL="0" indent="0">
              <a:buNone/>
            </a:pPr>
            <a:r>
              <a:rPr lang="en-US" sz="1400" b="1" dirty="0">
                <a:solidFill>
                  <a:srgbClr val="FCA311"/>
                </a:solidFill>
              </a:rPr>
              <a:t>Reading the tests</a:t>
            </a:r>
            <a:endParaRPr lang="en-US" sz="1400" dirty="0"/>
          </a:p>
        </p:txBody>
      </p:sp>
      <p:sp>
        <p:nvSpPr>
          <p:cNvPr id="35" name="Text 32"/>
          <p:cNvSpPr txBox="1"/>
          <p:nvPr/>
        </p:nvSpPr>
        <p:spPr>
          <a:xfrm>
            <a:off x="6199632" y="1463040"/>
            <a:ext cx="2377440" cy="3108960"/>
          </a:xfrm>
          <a:prstGeom prst="rect">
            <a:avLst/>
          </a:prstGeom>
          <a:noFill/>
        </p:spPr>
        <p:txBody>
          <a:bodyPr wrap="square" lIns="0" tIns="0" rIns="0" bIns="0" rtlCol="0" anchor="t"/>
          <a:lstStyle/>
          <a:p>
            <a:pPr marL="0" indent="0">
              <a:spcAft>
                <a:spcPts val="600"/>
              </a:spcAft>
              <a:buNone/>
            </a:pPr>
            <a:r>
              <a:rPr lang="en-US" sz="1200" b="1" dirty="0">
                <a:solidFill>
                  <a:srgbClr val="4CC9F0"/>
                </a:solidFill>
              </a:rPr>
              <a:t>H0: </a:t>
            </a:r>
            <a:r>
              <a:rPr lang="en-US" sz="1200" dirty="0">
                <a:solidFill>
                  <a:srgbClr val="F1F4FA"/>
                </a:solidFill>
              </a:rPr>
              <a:t>no real difference.  </a:t>
            </a:r>
            <a:r>
              <a:rPr lang="en-US" sz="1200" b="1" dirty="0">
                <a:solidFill>
                  <a:srgbClr val="4CC9F0"/>
                </a:solidFill>
              </a:rPr>
              <a:t>H1: </a:t>
            </a:r>
            <a:r>
              <a:rPr lang="en-US" sz="1200" dirty="0">
                <a:solidFill>
                  <a:srgbClr val="F1F4FA"/>
                </a:solidFill>
              </a:rPr>
              <a:t>there is one.</a:t>
            </a:r>
            <a:endParaRPr lang="en-US" sz="1200" dirty="0"/>
          </a:p>
          <a:p>
            <a:pPr marL="0" indent="0">
              <a:spcAft>
                <a:spcPts val="600"/>
              </a:spcAft>
              <a:buNone/>
            </a:pPr>
            <a:r>
              <a:rPr lang="en-US" sz="1200" b="1" dirty="0">
                <a:solidFill>
                  <a:srgbClr val="4CC9F0"/>
                </a:solidFill>
              </a:rPr>
              <a:t>p-value: </a:t>
            </a:r>
            <a:r>
              <a:rPr lang="en-US" sz="1200" dirty="0">
                <a:solidFill>
                  <a:srgbClr val="F1F4FA"/>
                </a:solidFill>
              </a:rPr>
              <a:t>how likely a gap this large is if H0 were true.</a:t>
            </a:r>
            <a:endParaRPr lang="en-US" sz="1200" dirty="0"/>
          </a:p>
          <a:p>
            <a:pPr marL="0" indent="0">
              <a:spcAft>
                <a:spcPts val="600"/>
              </a:spcAft>
              <a:buNone/>
            </a:pPr>
            <a:r>
              <a:rPr lang="en-US" sz="1200" b="1" dirty="0">
                <a:solidFill>
                  <a:srgbClr val="4CC9F0"/>
                </a:solidFill>
              </a:rPr>
              <a:t>α = 0.05: </a:t>
            </a:r>
            <a:r>
              <a:rPr lang="en-US" sz="1200" dirty="0">
                <a:solidFill>
                  <a:srgbClr val="F1F4FA"/>
                </a:solidFill>
              </a:rPr>
              <a:t>p below it → reject H0.</a:t>
            </a:r>
            <a:endParaRPr lang="en-US" sz="1200" dirty="0"/>
          </a:p>
          <a:p>
            <a:pPr marL="0" indent="0">
              <a:buNone/>
            </a:pPr>
            <a:r>
              <a:rPr lang="en-US" sz="1200" b="1" dirty="0">
                <a:solidFill>
                  <a:srgbClr val="4CC9F0"/>
                </a:solidFill>
              </a:rPr>
              <a:t>Cohen's d: </a:t>
            </a:r>
            <a:r>
              <a:rPr lang="en-US" sz="1200" dirty="0">
                <a:solidFill>
                  <a:srgbClr val="F1F4FA"/>
                </a:solidFill>
              </a:rPr>
              <a:t>how big the gap is, not just whether it exists.</a:t>
            </a:r>
            <a:endParaRPr lang="en-US" sz="1200" dirty="0"/>
          </a:p>
        </p:txBody>
      </p:sp>
      <p:sp>
        <p:nvSpPr>
          <p:cNvPr id="4"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05 · HYPOTHESIS TESTING</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Hypothesis Testing Results</a:t>
            </a:r>
            <a:endParaRPr lang="en-US" sz="2600" dirty="0"/>
          </a:p>
        </p:txBody>
      </p:sp>
      <p:graphicFrame>
        <p:nvGraphicFramePr>
          <p:cNvPr id="11" name="Table 0"/>
          <p:cNvGraphicFramePr>
            <a:graphicFrameLocks noGrp="1"/>
          </p:cNvGraphicFramePr>
          <p:nvPr/>
        </p:nvGraphicFramePr>
        <p:xfrm>
          <a:off x="457200" y="1005840"/>
          <a:ext cx="8229600" cy="2450592"/>
        </p:xfrm>
        <a:graphic>
          <a:graphicData uri="http://schemas.openxmlformats.org/drawingml/2006/table">
            <a:tbl>
              <a:tblPr/>
              <a:tblGrid>
                <a:gridCol w="1737360"/>
                <a:gridCol w="1005840"/>
                <a:gridCol w="1463040"/>
                <a:gridCol w="731520"/>
                <a:gridCol w="1188720"/>
                <a:gridCol w="2103120"/>
              </a:tblGrid>
              <a:tr h="274320">
                <a:tc>
                  <a:txBody>
                    <a:bodyPr/>
                    <a:lstStyle/>
                    <a:p>
                      <a:pPr marL="0" indent="0" algn="l">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Hypothesis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lgn="l">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Test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lgn="l">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Statistic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lgn="l">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P-value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lgn="l">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Decision (α = 0.05)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lgn="l">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Business interpretation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H1 Run rate: win vs loss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Welch t-test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t = 18.87; d = 0.81</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&lt; 0.001</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2FBF71"/>
                          </a:solidFill>
                          <a:latin typeface="Calibri" panose="020F0502020204030204" pitchFamily="34" charset="0"/>
                          <a:ea typeface="Calibri" panose="020F0502020204030204" pitchFamily="34" charset="-122"/>
                          <a:cs typeface="Calibri" panose="020F0502020204030204" pitchFamily="34" charset="-120"/>
                        </a:rPr>
                        <a:t>Reject H0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Winners: 8.89 vs 7.74 runs/over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H2 Dot-ball %: win vs loss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Welch t-test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t = −12.81; d = −0.55</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&lt; 0.001</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2FBF71"/>
                          </a:solidFill>
                          <a:latin typeface="Calibri" panose="020F0502020204030204" pitchFamily="34" charset="0"/>
                          <a:ea typeface="Calibri" panose="020F0502020204030204" pitchFamily="34" charset="-122"/>
                          <a:cs typeface="Calibri" panose="020F0502020204030204" pitchFamily="34" charset="-120"/>
                        </a:rPr>
                        <a:t>Reject H0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Winners: 34.1% dots vs 38.0%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H3 Run rate: 1st vs 2nd inns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Welch t-test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t = 1.19; d = 0.05</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0.233</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4CC9F0"/>
                          </a:solidFill>
                          <a:latin typeface="Calibri" panose="020F0502020204030204" pitchFamily="34" charset="0"/>
                          <a:ea typeface="Calibri" panose="020F0502020204030204" pitchFamily="34" charset="-122"/>
                          <a:cs typeface="Calibri" panose="020F0502020204030204" pitchFamily="34" charset="-120"/>
                        </a:rPr>
                        <a:t>Fail to reject H0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No clear pace gap: 8.36 vs 8.28</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H4 3+ PP wickets vs result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Chi-square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χ² = 107.57; dof = 1</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&lt; 0.001</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2FBF71"/>
                          </a:solidFill>
                          <a:latin typeface="Calibri" panose="020F0502020204030204" pitchFamily="34" charset="0"/>
                          <a:ea typeface="Calibri" panose="020F0502020204030204" pitchFamily="34" charset="-122"/>
                          <a:cs typeface="Calibri" panose="020F0502020204030204" pitchFamily="34" charset="-120"/>
                        </a:rPr>
                        <a:t>Reject H0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3+ PP wkts: 24.7% wins vs 54.9%</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H5 Run rate: 2008–15 vs 2016+</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Welch t-test</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t = −10.03; d = −0.43</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&lt; 0.001</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2FBF71"/>
                          </a:solidFill>
                          <a:latin typeface="Calibri" panose="020F0502020204030204" pitchFamily="34" charset="0"/>
                          <a:ea typeface="Calibri" panose="020F0502020204030204" pitchFamily="34" charset="-122"/>
                          <a:cs typeface="Calibri" panose="020F0502020204030204" pitchFamily="34" charset="-120"/>
                        </a:rPr>
                        <a:t>Reject H0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Pace rose: 7.97 → 8.62 runs/over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H6 Run rate across franchises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One-way ANOVA</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F = 0.62</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0.739</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4CC9F0"/>
                          </a:solidFill>
                          <a:latin typeface="Calibri" panose="020F0502020204030204" pitchFamily="34" charset="0"/>
                          <a:ea typeface="Calibri" panose="020F0502020204030204" pitchFamily="34" charset="-122"/>
                          <a:cs typeface="Calibri" panose="020F0502020204030204" pitchFamily="34" charset="-120"/>
                        </a:rPr>
                        <a:t>Fail to reject H0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Franchises within normal variation</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310896">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H7 Gap by phase (PP/Mid/Death)</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Welch t + d</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d = 0.47 / 0.58 / 0.73</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&lt; 0.001 ×3</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b="1" dirty="0">
                          <a:solidFill>
                            <a:srgbClr val="2FBF71"/>
                          </a:solidFill>
                          <a:latin typeface="Calibri" panose="020F0502020204030204" pitchFamily="34" charset="0"/>
                          <a:ea typeface="Calibri" panose="020F0502020204030204" pitchFamily="34" charset="-122"/>
                          <a:cs typeface="Calibri" panose="020F0502020204030204" pitchFamily="34" charset="-120"/>
                        </a:rPr>
                        <a:t>Reject H0 (all 3)</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000" dirty="0">
                          <a:solidFill>
                            <a:srgbClr val="F1F4FA"/>
                          </a:solidFill>
                          <a:latin typeface="Calibri" panose="020F0502020204030204" pitchFamily="34" charset="0"/>
                          <a:ea typeface="Calibri" panose="020F0502020204030204" pitchFamily="34" charset="-122"/>
                          <a:cs typeface="Calibri" panose="020F0502020204030204" pitchFamily="34" charset="-120"/>
                        </a:rPr>
                        <a:t>Death overs gap largest: +2.49</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54864" marR="54864" marT="27432" marB="27432"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bl>
          </a:graphicData>
        </a:graphic>
      </p:graphicFrame>
      <p:sp>
        <p:nvSpPr>
          <p:cNvPr id="6" name="card"/>
          <p:cNvSpPr/>
          <p:nvPr/>
        </p:nvSpPr>
        <p:spPr>
          <a:xfrm>
            <a:off x="457200" y="3749040"/>
            <a:ext cx="4023360" cy="777240"/>
          </a:xfrm>
          <a:prstGeom prst="roundRect">
            <a:avLst>
              <a:gd name="adj" fmla="val 9412"/>
            </a:avLst>
          </a:prstGeom>
          <a:solidFill>
            <a:srgbClr val="1B2B4F"/>
          </a:solidFill>
          <a:ln w="12700">
            <a:solidFill>
              <a:srgbClr val="1B2B4F"/>
            </a:solidFill>
            <a:prstDash val="solid"/>
          </a:ln>
        </p:spPr>
      </p:sp>
      <p:sp>
        <p:nvSpPr>
          <p:cNvPr id="7" name="Text 3"/>
          <p:cNvSpPr txBox="1"/>
          <p:nvPr/>
        </p:nvSpPr>
        <p:spPr>
          <a:xfrm>
            <a:off x="594360" y="3813048"/>
            <a:ext cx="3749040" cy="658368"/>
          </a:xfrm>
          <a:prstGeom prst="rect">
            <a:avLst/>
          </a:prstGeom>
          <a:noFill/>
        </p:spPr>
        <p:txBody>
          <a:bodyPr wrap="square" lIns="0" tIns="0" rIns="0" bIns="0" rtlCol="0" anchor="t"/>
          <a:lstStyle/>
          <a:p>
            <a:pPr marL="0" indent="0">
              <a:buNone/>
            </a:pPr>
            <a:r>
              <a:rPr lang="en-US" sz="1200" dirty="0">
                <a:solidFill>
                  <a:srgbClr val="F1F4FA"/>
                </a:solidFill>
              </a:rPr>
              <a:t>Decision rule: p &lt; 0.05 → evidence supports rejecting H0. p ≥ 0.05 → fail to reject H0.</a:t>
            </a:r>
            <a:endParaRPr lang="en-US" sz="1200" dirty="0"/>
          </a:p>
        </p:txBody>
      </p:sp>
      <p:sp>
        <p:nvSpPr>
          <p:cNvPr id="8" name="card"/>
          <p:cNvSpPr/>
          <p:nvPr/>
        </p:nvSpPr>
        <p:spPr>
          <a:xfrm>
            <a:off x="4663440" y="3749040"/>
            <a:ext cx="4023360" cy="777240"/>
          </a:xfrm>
          <a:prstGeom prst="roundRect">
            <a:avLst>
              <a:gd name="adj" fmla="val 9412"/>
            </a:avLst>
          </a:prstGeom>
          <a:solidFill>
            <a:srgbClr val="1B2B4F"/>
          </a:solidFill>
          <a:ln w="12700">
            <a:solidFill>
              <a:srgbClr val="1B2B4F"/>
            </a:solidFill>
            <a:prstDash val="solid"/>
          </a:ln>
        </p:spPr>
      </p:sp>
      <p:sp>
        <p:nvSpPr>
          <p:cNvPr id="9" name="Text 5"/>
          <p:cNvSpPr txBox="1"/>
          <p:nvPr/>
        </p:nvSpPr>
        <p:spPr>
          <a:xfrm>
            <a:off x="4800600" y="3813048"/>
            <a:ext cx="3749040" cy="658368"/>
          </a:xfrm>
          <a:prstGeom prst="rect">
            <a:avLst/>
          </a:prstGeom>
          <a:noFill/>
        </p:spPr>
        <p:txBody>
          <a:bodyPr wrap="square" lIns="0" tIns="0" rIns="0" bIns="0" rtlCol="0" anchor="t"/>
          <a:lstStyle/>
          <a:p>
            <a:pPr marL="0" indent="0">
              <a:buNone/>
            </a:pPr>
            <a:r>
              <a:rPr lang="en-US" sz="1200" dirty="0">
                <a:solidFill>
                  <a:srgbClr val="F1F4FA"/>
                </a:solidFill>
              </a:rPr>
              <a:t>Significant ≠ important: with 2,180 innings, read Cohen's d. H1 d = 0.81 is large; H5 d = −0.43 is small to medium.</a:t>
            </a:r>
            <a:endParaRPr lang="en-US" sz="1200" dirty="0"/>
          </a:p>
        </p:txBody>
      </p:sp>
      <p:sp>
        <p:nvSpPr>
          <p:cNvPr id="10" name="Text 6"/>
          <p:cNvSpPr txBox="1"/>
          <p:nvPr/>
        </p:nvSpPr>
        <p:spPr>
          <a:xfrm>
            <a:off x="457200" y="4617720"/>
            <a:ext cx="8229600" cy="164592"/>
          </a:xfrm>
          <a:prstGeom prst="rect">
            <a:avLst/>
          </a:prstGeom>
          <a:noFill/>
        </p:spPr>
        <p:txBody>
          <a:bodyPr wrap="square" lIns="0" tIns="0" rIns="0" bIns="0" rtlCol="0" anchor="t"/>
          <a:lstStyle/>
          <a:p>
            <a:pPr marL="0" indent="0">
              <a:buNone/>
            </a:pPr>
            <a:r>
              <a:rPr lang="en-US" sz="1000" dirty="0">
                <a:solidFill>
                  <a:srgbClr val="9AA5B8"/>
                </a:solidFill>
              </a:rPr>
              <a:t>d = Cohen's d. Notebook p-values printed as 0.000000 are shown as &lt; 0.001. H7 p-values: powerplay, middle, death.</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06 · TEAM PERFORMANCE INDEX</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Team Performance Index</a:t>
            </a:r>
            <a:endParaRPr lang="en-US" sz="2600" dirty="0"/>
          </a:p>
        </p:txBody>
      </p:sp>
      <p:sp>
        <p:nvSpPr>
          <p:cNvPr id="5" name="card"/>
          <p:cNvSpPr/>
          <p:nvPr/>
        </p:nvSpPr>
        <p:spPr>
          <a:xfrm>
            <a:off x="457200" y="1005840"/>
            <a:ext cx="4480560" cy="566928"/>
          </a:xfrm>
          <a:prstGeom prst="roundRect">
            <a:avLst>
              <a:gd name="adj" fmla="val 12903"/>
            </a:avLst>
          </a:prstGeom>
          <a:solidFill>
            <a:srgbClr val="14213D"/>
          </a:solidFill>
          <a:ln w="12700">
            <a:solidFill>
              <a:srgbClr val="14213D"/>
            </a:solidFill>
            <a:prstDash val="solid"/>
          </a:ln>
        </p:spPr>
      </p:sp>
      <p:sp>
        <p:nvSpPr>
          <p:cNvPr id="6" name="Text 3"/>
          <p:cNvSpPr txBox="1"/>
          <p:nvPr/>
        </p:nvSpPr>
        <p:spPr>
          <a:xfrm>
            <a:off x="594360" y="1051560"/>
            <a:ext cx="4206240" cy="475488"/>
          </a:xfrm>
          <a:prstGeom prst="rect">
            <a:avLst/>
          </a:prstGeom>
          <a:noFill/>
        </p:spPr>
        <p:txBody>
          <a:bodyPr wrap="square" lIns="0" tIns="0" rIns="0" bIns="0" rtlCol="0" anchor="ctr"/>
          <a:lstStyle/>
          <a:p>
            <a:pPr marL="0" indent="0">
              <a:buNone/>
            </a:pPr>
            <a:r>
              <a:rPr lang="en-US" sz="1100" dirty="0">
                <a:solidFill>
                  <a:srgbClr val="F1F4FA"/>
                </a:solidFill>
              </a:rPr>
              <a:t>1  Standardise: convert metrics to z-scores; reverse lower-is-better metrics so + always means stronger.</a:t>
            </a:r>
            <a:endParaRPr lang="en-US" sz="1100" dirty="0"/>
          </a:p>
        </p:txBody>
      </p:sp>
      <p:sp>
        <p:nvSpPr>
          <p:cNvPr id="7" name="card"/>
          <p:cNvSpPr/>
          <p:nvPr/>
        </p:nvSpPr>
        <p:spPr>
          <a:xfrm>
            <a:off x="457200" y="1645920"/>
            <a:ext cx="2194560" cy="1371600"/>
          </a:xfrm>
          <a:prstGeom prst="roundRect">
            <a:avLst>
              <a:gd name="adj" fmla="val 5333"/>
            </a:avLst>
          </a:prstGeom>
          <a:solidFill>
            <a:srgbClr val="1B2B4F"/>
          </a:solidFill>
          <a:ln w="12700">
            <a:solidFill>
              <a:srgbClr val="1B2B4F"/>
            </a:solidFill>
            <a:prstDash val="solid"/>
          </a:ln>
        </p:spPr>
      </p:sp>
      <p:sp>
        <p:nvSpPr>
          <p:cNvPr id="8" name="Text 5"/>
          <p:cNvSpPr txBox="1"/>
          <p:nvPr/>
        </p:nvSpPr>
        <p:spPr>
          <a:xfrm>
            <a:off x="566928" y="1691640"/>
            <a:ext cx="2011680" cy="228600"/>
          </a:xfrm>
          <a:prstGeom prst="rect">
            <a:avLst/>
          </a:prstGeom>
          <a:noFill/>
        </p:spPr>
        <p:txBody>
          <a:bodyPr wrap="square" lIns="0" tIns="0" rIns="0" bIns="0" rtlCol="0" anchor="t"/>
          <a:lstStyle/>
          <a:p>
            <a:pPr marL="0" indent="0">
              <a:buNone/>
            </a:pPr>
            <a:r>
              <a:rPr lang="en-US" sz="1200" b="1" dirty="0">
                <a:solidFill>
                  <a:srgbClr val="4CC9F0"/>
                </a:solidFill>
              </a:rPr>
              <a:t>2  Batting Index</a:t>
            </a:r>
            <a:endParaRPr lang="en-US" sz="1200" dirty="0"/>
          </a:p>
        </p:txBody>
      </p:sp>
      <p:sp>
        <p:nvSpPr>
          <p:cNvPr id="9" name="Text 6"/>
          <p:cNvSpPr txBox="1"/>
          <p:nvPr/>
        </p:nvSpPr>
        <p:spPr>
          <a:xfrm>
            <a:off x="566928" y="1947672"/>
            <a:ext cx="2011680" cy="1051560"/>
          </a:xfrm>
          <a:prstGeom prst="rect">
            <a:avLst/>
          </a:prstGeom>
          <a:noFill/>
        </p:spPr>
        <p:txBody>
          <a:bodyPr wrap="square" lIns="0" tIns="0" rIns="0" bIns="0" rtlCol="0" anchor="t"/>
          <a:lstStyle/>
          <a:p>
            <a:pPr marL="152400" indent="-152400">
              <a:spcAft>
                <a:spcPts val="100"/>
              </a:spcAft>
              <a:buSzPct val="100000"/>
              <a:buChar char="•"/>
            </a:pPr>
            <a:r>
              <a:rPr lang="en-US" sz="1100" dirty="0">
                <a:solidFill>
                  <a:srgbClr val="F1F4FA"/>
                </a:solidFill>
              </a:rPr>
              <a:t>Batting run rate</a:t>
            </a:r>
            <a:endParaRPr lang="en-US" sz="1200" dirty="0"/>
          </a:p>
          <a:p>
            <a:pPr marL="152400" indent="-152400">
              <a:spcAft>
                <a:spcPts val="100"/>
              </a:spcAft>
              <a:buSzPct val="100000"/>
              <a:buChar char="•"/>
            </a:pPr>
            <a:r>
              <a:rPr lang="en-US" sz="1100" dirty="0">
                <a:solidFill>
                  <a:srgbClr val="F1F4FA"/>
                </a:solidFill>
              </a:rPr>
              <a:t>Powerplay run rate</a:t>
            </a:r>
            <a:endParaRPr lang="en-US" sz="1200" dirty="0"/>
          </a:p>
          <a:p>
            <a:pPr marL="152400" indent="-152400">
              <a:spcAft>
                <a:spcPts val="100"/>
              </a:spcAft>
              <a:buSzPct val="100000"/>
              <a:buChar char="•"/>
            </a:pPr>
            <a:r>
              <a:rPr lang="en-US" sz="1100" dirty="0">
                <a:solidFill>
                  <a:srgbClr val="F1F4FA"/>
                </a:solidFill>
              </a:rPr>
              <a:t>Death run rate</a:t>
            </a:r>
            <a:endParaRPr lang="en-US" sz="1200" dirty="0"/>
          </a:p>
          <a:p>
            <a:pPr marL="152400" indent="-152400">
              <a:spcAft>
                <a:spcPts val="100"/>
              </a:spcAft>
              <a:buSzPct val="100000"/>
              <a:buChar char="•"/>
            </a:pPr>
            <a:r>
              <a:rPr lang="en-US" sz="1100" dirty="0">
                <a:solidFill>
                  <a:srgbClr val="F1F4FA"/>
                </a:solidFill>
              </a:rPr>
              <a:t>Boundary %</a:t>
            </a:r>
            <a:endParaRPr lang="en-US" sz="1200" dirty="0"/>
          </a:p>
          <a:p>
            <a:pPr marL="152400" indent="-152400">
              <a:spcAft>
                <a:spcPts val="100"/>
              </a:spcAft>
              <a:buSzPct val="100000"/>
              <a:buChar char="•"/>
            </a:pPr>
            <a:r>
              <a:rPr lang="en-US" sz="1100" dirty="0">
                <a:solidFill>
                  <a:srgbClr val="F1F4FA"/>
                </a:solidFill>
              </a:rPr>
              <a:t>Dot-ball % (reversed)</a:t>
            </a:r>
            <a:endParaRPr lang="en-US" sz="1200" dirty="0"/>
          </a:p>
        </p:txBody>
      </p:sp>
      <p:sp>
        <p:nvSpPr>
          <p:cNvPr id="10" name="card"/>
          <p:cNvSpPr/>
          <p:nvPr/>
        </p:nvSpPr>
        <p:spPr>
          <a:xfrm>
            <a:off x="2743200" y="1645920"/>
            <a:ext cx="2194560" cy="1371600"/>
          </a:xfrm>
          <a:prstGeom prst="roundRect">
            <a:avLst>
              <a:gd name="adj" fmla="val 5333"/>
            </a:avLst>
          </a:prstGeom>
          <a:solidFill>
            <a:srgbClr val="1B2B4F"/>
          </a:solidFill>
          <a:ln w="12700">
            <a:solidFill>
              <a:srgbClr val="1B2B4F"/>
            </a:solidFill>
            <a:prstDash val="solid"/>
          </a:ln>
        </p:spPr>
      </p:sp>
      <p:sp>
        <p:nvSpPr>
          <p:cNvPr id="11" name="Text 8"/>
          <p:cNvSpPr txBox="1"/>
          <p:nvPr/>
        </p:nvSpPr>
        <p:spPr>
          <a:xfrm>
            <a:off x="2852928" y="1691640"/>
            <a:ext cx="2011680" cy="228600"/>
          </a:xfrm>
          <a:prstGeom prst="rect">
            <a:avLst/>
          </a:prstGeom>
          <a:noFill/>
        </p:spPr>
        <p:txBody>
          <a:bodyPr wrap="square" lIns="0" tIns="0" rIns="0" bIns="0" rtlCol="0" anchor="t"/>
          <a:lstStyle/>
          <a:p>
            <a:pPr marL="0" indent="0">
              <a:buNone/>
            </a:pPr>
            <a:r>
              <a:rPr lang="en-US" sz="1200" b="1" dirty="0">
                <a:solidFill>
                  <a:srgbClr val="FCA311"/>
                </a:solidFill>
              </a:rPr>
              <a:t>2  Bowling Index</a:t>
            </a:r>
            <a:endParaRPr lang="en-US" sz="1200" dirty="0"/>
          </a:p>
        </p:txBody>
      </p:sp>
      <p:sp>
        <p:nvSpPr>
          <p:cNvPr id="12" name="Text 9"/>
          <p:cNvSpPr txBox="1"/>
          <p:nvPr/>
        </p:nvSpPr>
        <p:spPr>
          <a:xfrm>
            <a:off x="2852928" y="1947672"/>
            <a:ext cx="2011680" cy="1051560"/>
          </a:xfrm>
          <a:prstGeom prst="rect">
            <a:avLst/>
          </a:prstGeom>
          <a:noFill/>
        </p:spPr>
        <p:txBody>
          <a:bodyPr wrap="square" lIns="0" tIns="0" rIns="0" bIns="0" rtlCol="0" anchor="t"/>
          <a:lstStyle/>
          <a:p>
            <a:pPr marL="152400" indent="-152400">
              <a:spcAft>
                <a:spcPts val="100"/>
              </a:spcAft>
              <a:buSzPct val="100000"/>
              <a:buChar char="•"/>
            </a:pPr>
            <a:r>
              <a:rPr lang="en-US" sz="1100" dirty="0">
                <a:solidFill>
                  <a:srgbClr val="F1F4FA"/>
                </a:solidFill>
              </a:rPr>
              <a:t>Economy (reversed)</a:t>
            </a:r>
            <a:endParaRPr lang="en-US" sz="1200" dirty="0"/>
          </a:p>
          <a:p>
            <a:pPr marL="152400" indent="-152400">
              <a:spcAft>
                <a:spcPts val="100"/>
              </a:spcAft>
              <a:buSzPct val="100000"/>
              <a:buChar char="•"/>
            </a:pPr>
            <a:r>
              <a:rPr lang="en-US" sz="1100" dirty="0">
                <a:solidFill>
                  <a:srgbClr val="F1F4FA"/>
                </a:solidFill>
              </a:rPr>
              <a:t>Strike rate (reversed)</a:t>
            </a:r>
            <a:endParaRPr lang="en-US" sz="1200" dirty="0"/>
          </a:p>
          <a:p>
            <a:pPr marL="152400" indent="-152400">
              <a:spcAft>
                <a:spcPts val="100"/>
              </a:spcAft>
              <a:buSzPct val="100000"/>
              <a:buChar char="•"/>
            </a:pPr>
            <a:r>
              <a:rPr lang="en-US" sz="1100" dirty="0">
                <a:solidFill>
                  <a:srgbClr val="F1F4FA"/>
                </a:solidFill>
              </a:rPr>
              <a:t>Powerplay econ. (reversed)</a:t>
            </a:r>
            <a:endParaRPr lang="en-US" sz="1200" dirty="0"/>
          </a:p>
          <a:p>
            <a:pPr marL="152400" indent="-152400">
              <a:spcAft>
                <a:spcPts val="100"/>
              </a:spcAft>
              <a:buSzPct val="100000"/>
              <a:buChar char="•"/>
            </a:pPr>
            <a:r>
              <a:rPr lang="en-US" sz="1100" dirty="0">
                <a:solidFill>
                  <a:srgbClr val="F1F4FA"/>
                </a:solidFill>
              </a:rPr>
              <a:t>Death econ. (reversed)</a:t>
            </a:r>
            <a:endParaRPr lang="en-US" sz="1200" dirty="0"/>
          </a:p>
          <a:p>
            <a:pPr marL="152400" indent="-152400">
              <a:spcAft>
                <a:spcPts val="100"/>
              </a:spcAft>
              <a:buSzPct val="100000"/>
              <a:buChar char="•"/>
            </a:pPr>
            <a:r>
              <a:rPr lang="en-US" sz="1100" dirty="0">
                <a:solidFill>
                  <a:srgbClr val="F1F4FA"/>
                </a:solidFill>
              </a:rPr>
              <a:t>Dot-ball % bowled</a:t>
            </a:r>
            <a:endParaRPr lang="en-US" sz="1200" dirty="0"/>
          </a:p>
        </p:txBody>
      </p:sp>
      <p:sp>
        <p:nvSpPr>
          <p:cNvPr id="13" name="Text 10"/>
          <p:cNvSpPr txBox="1"/>
          <p:nvPr/>
        </p:nvSpPr>
        <p:spPr>
          <a:xfrm>
            <a:off x="457200" y="3090672"/>
            <a:ext cx="4480560" cy="274320"/>
          </a:xfrm>
          <a:prstGeom prst="rect">
            <a:avLst/>
          </a:prstGeom>
          <a:noFill/>
        </p:spPr>
        <p:txBody>
          <a:bodyPr wrap="square" lIns="0" tIns="0" rIns="0" bIns="0" rtlCol="0" anchor="ctr"/>
          <a:lstStyle/>
          <a:p>
            <a:pPr marL="0" indent="0">
              <a:buNone/>
            </a:pPr>
            <a:r>
              <a:rPr lang="en-US" sz="1100" b="1" dirty="0">
                <a:solidFill>
                  <a:srgbClr val="FCA311"/>
                </a:solidFill>
              </a:rPr>
              <a:t>Performance Index = 50% Batting + 50% Bowling  ·  rule-based, no ML</a:t>
            </a:r>
            <a:endParaRPr lang="en-US" sz="1100" dirty="0"/>
          </a:p>
        </p:txBody>
      </p:sp>
      <p:graphicFrame>
        <p:nvGraphicFramePr>
          <p:cNvPr id="4" name="Table 0"/>
          <p:cNvGraphicFramePr>
            <a:graphicFrameLocks noGrp="1"/>
          </p:cNvGraphicFramePr>
          <p:nvPr/>
        </p:nvGraphicFramePr>
        <p:xfrm>
          <a:off x="457200" y="3429000"/>
          <a:ext cx="4480560" cy="1188720"/>
        </p:xfrm>
        <a:graphic>
          <a:graphicData uri="http://schemas.openxmlformats.org/drawingml/2006/table">
            <a:tbl>
              <a:tblPr/>
              <a:tblGrid>
                <a:gridCol w="1554480"/>
                <a:gridCol w="2926080"/>
              </a:tblGrid>
              <a:tr h="237744">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3  Tier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Performance Index</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r>
              <a:tr h="237744">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Elite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2FBF71"/>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 0.50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237744">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Strong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4CC9F0"/>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0.15 to &lt; 0.50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237744">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Average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9AA5B8"/>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−0.15 to &lt; 0.15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237744">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Struggling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E63946"/>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&lt; −0.15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bl>
          </a:graphicData>
        </a:graphic>
      </p:graphicFrame>
      <p:pic>
        <p:nvPicPr>
          <p:cNvPr id="15" name="Image 0" descr="Bar chart: Team Performance Index split into batting and bowling parts, by franchise"/>
          <p:cNvPicPr>
            <a:picLocks noChangeAspect="1"/>
          </p:cNvPicPr>
          <p:nvPr/>
        </p:nvPicPr>
        <p:blipFill>
          <a:blip r:embed="rId1"/>
          <a:stretch>
            <a:fillRect/>
          </a:stretch>
        </p:blipFill>
        <p:spPr>
          <a:xfrm>
            <a:off x="5177177" y="1005840"/>
            <a:ext cx="3453085" cy="2057400"/>
          </a:xfrm>
          <a:prstGeom prst="rect">
            <a:avLst/>
          </a:prstGeom>
        </p:spPr>
      </p:pic>
      <p:sp>
        <p:nvSpPr>
          <p:cNvPr id="16" name="card"/>
          <p:cNvSpPr/>
          <p:nvPr/>
        </p:nvSpPr>
        <p:spPr>
          <a:xfrm>
            <a:off x="5120640" y="3154680"/>
            <a:ext cx="3566160" cy="868680"/>
          </a:xfrm>
          <a:prstGeom prst="roundRect">
            <a:avLst>
              <a:gd name="adj" fmla="val 8421"/>
            </a:avLst>
          </a:prstGeom>
          <a:solidFill>
            <a:srgbClr val="1B2B4F"/>
          </a:solidFill>
          <a:ln w="12700">
            <a:solidFill>
              <a:srgbClr val="1B2B4F"/>
            </a:solidFill>
            <a:prstDash val="solid"/>
          </a:ln>
        </p:spPr>
      </p:sp>
      <p:sp>
        <p:nvSpPr>
          <p:cNvPr id="17" name="Text 12"/>
          <p:cNvSpPr txBox="1"/>
          <p:nvPr/>
        </p:nvSpPr>
        <p:spPr>
          <a:xfrm>
            <a:off x="5212080" y="3200400"/>
            <a:ext cx="3383280" cy="777240"/>
          </a:xfrm>
          <a:prstGeom prst="rect">
            <a:avLst/>
          </a:prstGeom>
          <a:noFill/>
        </p:spPr>
        <p:txBody>
          <a:bodyPr wrap="square" lIns="0" tIns="0" rIns="0" bIns="0" rtlCol="0" anchor="ctr"/>
          <a:lstStyle/>
          <a:p>
            <a:pPr marL="0" indent="0">
              <a:buNone/>
            </a:pPr>
            <a:r>
              <a:rPr lang="en-US" sz="1000" b="1" dirty="0">
                <a:solidFill>
                  <a:srgbClr val="FCA311"/>
                </a:solidFill>
              </a:rPr>
              <a:t>Gujarat Titans · Elite, Batting-led · Index +0.68</a:t>
            </a:r>
            <a:endParaRPr lang="en-US" sz="1200" dirty="0"/>
          </a:p>
          <a:p>
            <a:pPr marL="0" indent="0">
              <a:buNone/>
            </a:pPr>
            <a:r>
              <a:rPr lang="en-US" sz="1000" dirty="0">
                <a:solidFill>
                  <a:srgbClr val="F1F4FA"/>
                </a:solidFill>
              </a:rPr>
              <a:t>Strengths: avoiding dot balls (+2.11), death-over batting (+1.65)</a:t>
            </a:r>
            <a:endParaRPr lang="en-US" sz="1200" dirty="0"/>
          </a:p>
          <a:p>
            <a:pPr marL="0" indent="0">
              <a:buNone/>
            </a:pPr>
            <a:r>
              <a:rPr lang="en-US" sz="1000" dirty="0">
                <a:solidFill>
                  <a:srgbClr val="F1F4FA"/>
                </a:solidFill>
              </a:rPr>
              <a:t>Weaknesses: powerplay bowling (−1.33), overall economy (−1.32)</a:t>
            </a:r>
            <a:endParaRPr lang="en-US" sz="1200" dirty="0"/>
          </a:p>
        </p:txBody>
      </p:sp>
      <p:sp>
        <p:nvSpPr>
          <p:cNvPr id="18" name="card"/>
          <p:cNvSpPr/>
          <p:nvPr/>
        </p:nvSpPr>
        <p:spPr>
          <a:xfrm>
            <a:off x="5120640" y="4114800"/>
            <a:ext cx="3566160" cy="594360"/>
          </a:xfrm>
          <a:prstGeom prst="roundRect">
            <a:avLst>
              <a:gd name="adj" fmla="val 12308"/>
            </a:avLst>
          </a:prstGeom>
          <a:solidFill>
            <a:srgbClr val="1B2B4F"/>
          </a:solidFill>
          <a:ln w="12700">
            <a:solidFill>
              <a:srgbClr val="1B2B4F"/>
            </a:solidFill>
            <a:prstDash val="solid"/>
          </a:ln>
        </p:spPr>
      </p:sp>
      <p:sp>
        <p:nvSpPr>
          <p:cNvPr id="19" name="Text 14"/>
          <p:cNvSpPr txBox="1"/>
          <p:nvPr/>
        </p:nvSpPr>
        <p:spPr>
          <a:xfrm>
            <a:off x="5230368" y="4151376"/>
            <a:ext cx="3383280" cy="530352"/>
          </a:xfrm>
          <a:prstGeom prst="rect">
            <a:avLst/>
          </a:prstGeom>
          <a:noFill/>
        </p:spPr>
        <p:txBody>
          <a:bodyPr wrap="square" lIns="0" tIns="0" rIns="0" bIns="0" rtlCol="0" anchor="ctr"/>
          <a:lstStyle/>
          <a:p>
            <a:pPr marL="0" indent="0">
              <a:buNone/>
            </a:pPr>
            <a:r>
              <a:rPr lang="en-US" sz="1100" dirty="0">
                <a:solidFill>
                  <a:srgbClr val="F1F4FA"/>
                </a:solidFill>
              </a:rPr>
              <a:t>Profile: batting − bowling &gt; 0.3 → batting-led; &lt; −0.3 → bowling-led; else balanced.</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06 · TEAM PERFORMANCE INDEX</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Does the Index Agree With Winning?</a:t>
            </a:r>
            <a:endParaRPr lang="en-US" sz="2600" dirty="0"/>
          </a:p>
        </p:txBody>
      </p:sp>
      <p:sp>
        <p:nvSpPr>
          <p:cNvPr id="5" name="card"/>
          <p:cNvSpPr/>
          <p:nvPr/>
        </p:nvSpPr>
        <p:spPr>
          <a:xfrm>
            <a:off x="457200" y="1005840"/>
            <a:ext cx="1993392" cy="960120"/>
          </a:xfrm>
          <a:prstGeom prst="roundRect">
            <a:avLst>
              <a:gd name="adj" fmla="val 7619"/>
            </a:avLst>
          </a:prstGeom>
          <a:solidFill>
            <a:srgbClr val="1B2B4F"/>
          </a:solidFill>
          <a:ln w="12700">
            <a:solidFill>
              <a:srgbClr val="1B2B4F"/>
            </a:solidFill>
            <a:prstDash val="solid"/>
          </a:ln>
        </p:spPr>
      </p:sp>
      <p:sp>
        <p:nvSpPr>
          <p:cNvPr id="6" name="Text 3"/>
          <p:cNvSpPr txBox="1"/>
          <p:nvPr/>
        </p:nvSpPr>
        <p:spPr>
          <a:xfrm>
            <a:off x="548640" y="1051560"/>
            <a:ext cx="1810512" cy="457200"/>
          </a:xfrm>
          <a:prstGeom prst="rect">
            <a:avLst/>
          </a:prstGeom>
          <a:noFill/>
        </p:spPr>
        <p:txBody>
          <a:bodyPr wrap="square" lIns="0" tIns="0" rIns="0" bIns="0" rtlCol="0" anchor="ctr"/>
          <a:lstStyle/>
          <a:p>
            <a:pPr marL="0" indent="0" algn="ctr">
              <a:buNone/>
            </a:pPr>
            <a:r>
              <a:rPr lang="en-US" sz="2600" b="1" dirty="0">
                <a:solidFill>
                  <a:srgbClr val="FCA311"/>
                </a:solidFill>
              </a:rPr>
              <a:t>0.73</a:t>
            </a:r>
            <a:endParaRPr lang="en-US" sz="2600" dirty="0"/>
          </a:p>
        </p:txBody>
      </p:sp>
      <p:sp>
        <p:nvSpPr>
          <p:cNvPr id="7" name="Text 4"/>
          <p:cNvSpPr txBox="1"/>
          <p:nvPr/>
        </p:nvSpPr>
        <p:spPr>
          <a:xfrm>
            <a:off x="548640" y="1536192"/>
            <a:ext cx="1810512" cy="384048"/>
          </a:xfrm>
          <a:prstGeom prst="rect">
            <a:avLst/>
          </a:prstGeom>
          <a:noFill/>
        </p:spPr>
        <p:txBody>
          <a:bodyPr wrap="square" lIns="0" tIns="0" rIns="0" bIns="0" rtlCol="0" anchor="t"/>
          <a:lstStyle/>
          <a:p>
            <a:pPr marL="0" indent="0" algn="ctr">
              <a:buNone/>
            </a:pPr>
            <a:r>
              <a:rPr lang="en-US" sz="1100" dirty="0">
                <a:solidFill>
                  <a:srgbClr val="F1F4FA"/>
                </a:solidFill>
              </a:rPr>
              <a:t>ρ  Performance Index vs win %</a:t>
            </a:r>
            <a:endParaRPr lang="en-US" sz="1100" dirty="0"/>
          </a:p>
        </p:txBody>
      </p:sp>
      <p:sp>
        <p:nvSpPr>
          <p:cNvPr id="8" name="card"/>
          <p:cNvSpPr/>
          <p:nvPr/>
        </p:nvSpPr>
        <p:spPr>
          <a:xfrm>
            <a:off x="2542032" y="1005840"/>
            <a:ext cx="1993392" cy="960120"/>
          </a:xfrm>
          <a:prstGeom prst="roundRect">
            <a:avLst>
              <a:gd name="adj" fmla="val 7619"/>
            </a:avLst>
          </a:prstGeom>
          <a:solidFill>
            <a:srgbClr val="1B2B4F"/>
          </a:solidFill>
          <a:ln w="12700">
            <a:solidFill>
              <a:srgbClr val="1B2B4F"/>
            </a:solidFill>
            <a:prstDash val="solid"/>
          </a:ln>
        </p:spPr>
      </p:sp>
      <p:sp>
        <p:nvSpPr>
          <p:cNvPr id="9" name="Text 6"/>
          <p:cNvSpPr txBox="1"/>
          <p:nvPr/>
        </p:nvSpPr>
        <p:spPr>
          <a:xfrm>
            <a:off x="2633472" y="1051560"/>
            <a:ext cx="1810512" cy="457200"/>
          </a:xfrm>
          <a:prstGeom prst="rect">
            <a:avLst/>
          </a:prstGeom>
          <a:noFill/>
        </p:spPr>
        <p:txBody>
          <a:bodyPr wrap="square" lIns="0" tIns="0" rIns="0" bIns="0" rtlCol="0" anchor="ctr"/>
          <a:lstStyle/>
          <a:p>
            <a:pPr marL="0" indent="0" algn="ctr">
              <a:buNone/>
            </a:pPr>
            <a:r>
              <a:rPr lang="en-US" sz="2600" b="1" dirty="0">
                <a:solidFill>
                  <a:srgbClr val="FCA311"/>
                </a:solidFill>
              </a:rPr>
              <a:t>0.47</a:t>
            </a:r>
            <a:endParaRPr lang="en-US" sz="2600" dirty="0"/>
          </a:p>
        </p:txBody>
      </p:sp>
      <p:sp>
        <p:nvSpPr>
          <p:cNvPr id="10" name="Text 7"/>
          <p:cNvSpPr txBox="1"/>
          <p:nvPr/>
        </p:nvSpPr>
        <p:spPr>
          <a:xfrm>
            <a:off x="2633472" y="1536192"/>
            <a:ext cx="1810512" cy="384048"/>
          </a:xfrm>
          <a:prstGeom prst="rect">
            <a:avLst/>
          </a:prstGeom>
          <a:noFill/>
        </p:spPr>
        <p:txBody>
          <a:bodyPr wrap="square" lIns="0" tIns="0" rIns="0" bIns="0" rtlCol="0" anchor="t"/>
          <a:lstStyle/>
          <a:p>
            <a:pPr marL="0" indent="0" algn="ctr">
              <a:buNone/>
            </a:pPr>
            <a:r>
              <a:rPr lang="en-US" sz="1100" dirty="0">
                <a:solidFill>
                  <a:srgbClr val="F1F4FA"/>
                </a:solidFill>
              </a:rPr>
              <a:t>ρ  Batting Index vs win %</a:t>
            </a:r>
            <a:endParaRPr lang="en-US" sz="1100" dirty="0"/>
          </a:p>
        </p:txBody>
      </p:sp>
      <p:sp>
        <p:nvSpPr>
          <p:cNvPr id="11" name="card"/>
          <p:cNvSpPr/>
          <p:nvPr/>
        </p:nvSpPr>
        <p:spPr>
          <a:xfrm>
            <a:off x="4626864" y="1005840"/>
            <a:ext cx="1993392" cy="960120"/>
          </a:xfrm>
          <a:prstGeom prst="roundRect">
            <a:avLst>
              <a:gd name="adj" fmla="val 7619"/>
            </a:avLst>
          </a:prstGeom>
          <a:solidFill>
            <a:srgbClr val="1B2B4F"/>
          </a:solidFill>
          <a:ln w="12700">
            <a:solidFill>
              <a:srgbClr val="1B2B4F"/>
            </a:solidFill>
            <a:prstDash val="solid"/>
          </a:ln>
        </p:spPr>
      </p:sp>
      <p:sp>
        <p:nvSpPr>
          <p:cNvPr id="12" name="Text 9"/>
          <p:cNvSpPr txBox="1"/>
          <p:nvPr/>
        </p:nvSpPr>
        <p:spPr>
          <a:xfrm>
            <a:off x="4718304" y="1051560"/>
            <a:ext cx="1810512" cy="457200"/>
          </a:xfrm>
          <a:prstGeom prst="rect">
            <a:avLst/>
          </a:prstGeom>
          <a:noFill/>
        </p:spPr>
        <p:txBody>
          <a:bodyPr wrap="square" lIns="0" tIns="0" rIns="0" bIns="0" rtlCol="0" anchor="ctr"/>
          <a:lstStyle/>
          <a:p>
            <a:pPr marL="0" indent="0" algn="ctr">
              <a:buNone/>
            </a:pPr>
            <a:r>
              <a:rPr lang="en-US" sz="2600" b="1" dirty="0">
                <a:solidFill>
                  <a:srgbClr val="FCA311"/>
                </a:solidFill>
              </a:rPr>
              <a:t>0.48</a:t>
            </a:r>
            <a:endParaRPr lang="en-US" sz="2600" dirty="0"/>
          </a:p>
        </p:txBody>
      </p:sp>
      <p:sp>
        <p:nvSpPr>
          <p:cNvPr id="13" name="Text 10"/>
          <p:cNvSpPr txBox="1"/>
          <p:nvPr/>
        </p:nvSpPr>
        <p:spPr>
          <a:xfrm>
            <a:off x="4718304" y="1536192"/>
            <a:ext cx="1810512" cy="384048"/>
          </a:xfrm>
          <a:prstGeom prst="rect">
            <a:avLst/>
          </a:prstGeom>
          <a:noFill/>
        </p:spPr>
        <p:txBody>
          <a:bodyPr wrap="square" lIns="0" tIns="0" rIns="0" bIns="0" rtlCol="0" anchor="t"/>
          <a:lstStyle/>
          <a:p>
            <a:pPr marL="0" indent="0" algn="ctr">
              <a:buNone/>
            </a:pPr>
            <a:r>
              <a:rPr lang="en-US" sz="1100" dirty="0">
                <a:solidFill>
                  <a:srgbClr val="F1F4FA"/>
                </a:solidFill>
              </a:rPr>
              <a:t>ρ  Bowling Index vs win %</a:t>
            </a:r>
            <a:endParaRPr lang="en-US" sz="1100" dirty="0"/>
          </a:p>
        </p:txBody>
      </p:sp>
      <p:sp>
        <p:nvSpPr>
          <p:cNvPr id="14" name="card"/>
          <p:cNvSpPr/>
          <p:nvPr/>
        </p:nvSpPr>
        <p:spPr>
          <a:xfrm>
            <a:off x="6711696" y="1005840"/>
            <a:ext cx="1993392" cy="960120"/>
          </a:xfrm>
          <a:prstGeom prst="roundRect">
            <a:avLst>
              <a:gd name="adj" fmla="val 7619"/>
            </a:avLst>
          </a:prstGeom>
          <a:solidFill>
            <a:srgbClr val="1B2B4F"/>
          </a:solidFill>
          <a:ln w="12700">
            <a:solidFill>
              <a:srgbClr val="1B2B4F"/>
            </a:solidFill>
            <a:prstDash val="solid"/>
          </a:ln>
        </p:spPr>
      </p:sp>
      <p:sp>
        <p:nvSpPr>
          <p:cNvPr id="15" name="Text 12"/>
          <p:cNvSpPr txBox="1"/>
          <p:nvPr/>
        </p:nvSpPr>
        <p:spPr>
          <a:xfrm>
            <a:off x="6803136" y="1051560"/>
            <a:ext cx="1810512" cy="457200"/>
          </a:xfrm>
          <a:prstGeom prst="rect">
            <a:avLst/>
          </a:prstGeom>
          <a:noFill/>
        </p:spPr>
        <p:txBody>
          <a:bodyPr wrap="square" lIns="0" tIns="0" rIns="0" bIns="0" rtlCol="0" anchor="ctr"/>
          <a:lstStyle/>
          <a:p>
            <a:pPr marL="0" indent="0" algn="ctr">
              <a:buNone/>
            </a:pPr>
            <a:r>
              <a:rPr lang="en-US" sz="2600" b="1" dirty="0">
                <a:solidFill>
                  <a:srgbClr val="FCA311"/>
                </a:solidFill>
              </a:rPr>
              <a:t>0.56</a:t>
            </a:r>
            <a:endParaRPr lang="en-US" sz="2600" dirty="0"/>
          </a:p>
        </p:txBody>
      </p:sp>
      <p:sp>
        <p:nvSpPr>
          <p:cNvPr id="16" name="Text 13"/>
          <p:cNvSpPr txBox="1"/>
          <p:nvPr/>
        </p:nvSpPr>
        <p:spPr>
          <a:xfrm>
            <a:off x="6803136" y="1536192"/>
            <a:ext cx="1810512" cy="384048"/>
          </a:xfrm>
          <a:prstGeom prst="rect">
            <a:avLst/>
          </a:prstGeom>
          <a:noFill/>
        </p:spPr>
        <p:txBody>
          <a:bodyPr wrap="square" lIns="0" tIns="0" rIns="0" bIns="0" rtlCol="0" anchor="t"/>
          <a:lstStyle/>
          <a:p>
            <a:pPr marL="0" indent="0" algn="ctr">
              <a:buNone/>
            </a:pPr>
            <a:r>
              <a:rPr lang="en-US" sz="1100" dirty="0">
                <a:solidFill>
                  <a:srgbClr val="F1F4FA"/>
                </a:solidFill>
              </a:rPr>
              <a:t>R²  win % ~ batting + bowling</a:t>
            </a:r>
            <a:endParaRPr lang="en-US" sz="1100" dirty="0"/>
          </a:p>
        </p:txBody>
      </p:sp>
      <p:pic>
        <p:nvPicPr>
          <p:cNvPr id="17" name="Image 0" descr="Bar chart: Spearman correlation of each index component with season win percentage"/>
          <p:cNvPicPr>
            <a:picLocks noChangeAspect="1"/>
          </p:cNvPicPr>
          <p:nvPr/>
        </p:nvPicPr>
        <p:blipFill>
          <a:blip r:embed="rId1"/>
          <a:stretch>
            <a:fillRect/>
          </a:stretch>
        </p:blipFill>
        <p:spPr>
          <a:xfrm>
            <a:off x="702757" y="2103120"/>
            <a:ext cx="4263766" cy="2377440"/>
          </a:xfrm>
          <a:prstGeom prst="rect">
            <a:avLst/>
          </a:prstGeom>
        </p:spPr>
      </p:pic>
      <p:sp>
        <p:nvSpPr>
          <p:cNvPr id="18" name="Text 14"/>
          <p:cNvSpPr txBox="1"/>
          <p:nvPr/>
        </p:nvSpPr>
        <p:spPr>
          <a:xfrm>
            <a:off x="457200" y="4526280"/>
            <a:ext cx="4754880" cy="274320"/>
          </a:xfrm>
          <a:prstGeom prst="rect">
            <a:avLst/>
          </a:prstGeom>
          <a:noFill/>
        </p:spPr>
        <p:txBody>
          <a:bodyPr wrap="square" lIns="0" tIns="0" rIns="0" bIns="0" rtlCol="0" anchor="t"/>
          <a:lstStyle/>
          <a:p>
            <a:pPr marL="0" indent="0">
              <a:buNone/>
            </a:pPr>
            <a:r>
              <a:rPr lang="en-US" sz="1000" dirty="0">
                <a:solidFill>
                  <a:srgbClr val="9AA5B8"/>
                </a:solidFill>
              </a:rPr>
              <a:t>Component vs season win % · blue = batting, orange = bowling</a:t>
            </a:r>
            <a:endParaRPr lang="en-US" sz="1000" dirty="0"/>
          </a:p>
        </p:txBody>
      </p:sp>
      <p:graphicFrame>
        <p:nvGraphicFramePr>
          <p:cNvPr id="4" name="Table 0"/>
          <p:cNvGraphicFramePr>
            <a:graphicFrameLocks noGrp="1"/>
          </p:cNvGraphicFramePr>
          <p:nvPr/>
        </p:nvGraphicFramePr>
        <p:xfrm>
          <a:off x="5394960" y="2103120"/>
          <a:ext cx="3291840" cy="1371600"/>
        </p:xfrm>
        <a:graphic>
          <a:graphicData uri="http://schemas.openxmlformats.org/drawingml/2006/table">
            <a:tbl>
              <a:tblPr/>
              <a:tblGrid>
                <a:gridCol w="1188720"/>
                <a:gridCol w="1005840"/>
                <a:gridCol w="1097280"/>
              </a:tblGrid>
              <a:tr h="274320">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Tier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Avg win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Team-seasons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FCA311"/>
                    </a:solidFill>
                  </a:tcPr>
                </a:tc>
              </a:tr>
              <a:tr h="274320">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Elite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2FBF71"/>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64.7</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20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274320">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Strong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4CC9F0"/>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56.1</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40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274320">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Average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9AA5B8"/>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48.9</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32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r h="274320">
                <a:tc>
                  <a:txBody>
                    <a:bodyPr/>
                    <a:lstStyle/>
                    <a:p>
                      <a:pPr marL="0" indent="0">
                        <a:buNone/>
                      </a:pPr>
                      <a:r>
                        <a:rPr lang="en-US" sz="1100" b="1" dirty="0">
                          <a:solidFill>
                            <a:srgbClr val="0A1128"/>
                          </a:solidFill>
                          <a:latin typeface="Calibri" panose="020F0502020204030204" pitchFamily="34" charset="0"/>
                          <a:ea typeface="Calibri" panose="020F0502020204030204" pitchFamily="34" charset="-122"/>
                          <a:cs typeface="Calibri" panose="020F0502020204030204" pitchFamily="34" charset="-120"/>
                        </a:rPr>
                        <a:t>Struggling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E63946"/>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38.8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c>
                  <a:txBody>
                    <a:bodyPr/>
                    <a:lstStyle/>
                    <a:p>
                      <a:pPr marL="0" indent="0">
                        <a:buNone/>
                      </a:pPr>
                      <a:r>
                        <a:rPr lang="en-US" sz="1100" dirty="0">
                          <a:solidFill>
                            <a:srgbClr val="F1F4FA"/>
                          </a:solidFill>
                          <a:latin typeface="Calibri" panose="020F0502020204030204" pitchFamily="34" charset="0"/>
                          <a:ea typeface="Calibri" panose="020F0502020204030204" pitchFamily="34" charset="-122"/>
                          <a:cs typeface="Calibri" panose="020F0502020204030204" pitchFamily="34" charset="-120"/>
                        </a:rPr>
                        <a:t>54</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18288" marB="18288" anchor="ctr">
                    <a:lnL w="6350" cap="flat" cmpd="sng" algn="ctr">
                      <a:solidFill>
                        <a:srgbClr val="0A1128"/>
                      </a:solidFill>
                      <a:prstDash val="solid"/>
                      <a:round/>
                      <a:headEnd type="none" w="med" len="med"/>
                      <a:tailEnd type="none" w="med" len="med"/>
                    </a:lnL>
                    <a:lnR w="6350" cap="flat" cmpd="sng" algn="ctr">
                      <a:solidFill>
                        <a:srgbClr val="0A1128"/>
                      </a:solidFill>
                      <a:prstDash val="solid"/>
                      <a:round/>
                      <a:headEnd type="none" w="med" len="med"/>
                      <a:tailEnd type="none" w="med" len="med"/>
                    </a:lnR>
                    <a:lnT w="6350" cap="flat" cmpd="sng" algn="ctr">
                      <a:solidFill>
                        <a:srgbClr val="0A1128"/>
                      </a:solidFill>
                      <a:prstDash val="solid"/>
                      <a:round/>
                      <a:headEnd type="none" w="med" len="med"/>
                      <a:tailEnd type="none" w="med" len="med"/>
                    </a:lnT>
                    <a:lnB w="6350" cap="flat" cmpd="sng" algn="ctr">
                      <a:solidFill>
                        <a:srgbClr val="0A1128"/>
                      </a:solidFill>
                      <a:prstDash val="solid"/>
                      <a:round/>
                      <a:headEnd type="none" w="med" len="med"/>
                      <a:tailEnd type="none" w="med" len="med"/>
                    </a:lnB>
                    <a:solidFill>
                      <a:srgbClr val="14213D"/>
                    </a:solidFill>
                  </a:tcPr>
                </a:tc>
              </a:tr>
            </a:tbl>
          </a:graphicData>
        </a:graphic>
      </p:graphicFrame>
      <p:sp>
        <p:nvSpPr>
          <p:cNvPr id="20" name="card"/>
          <p:cNvSpPr/>
          <p:nvPr/>
        </p:nvSpPr>
        <p:spPr>
          <a:xfrm>
            <a:off x="5394960" y="3611880"/>
            <a:ext cx="3291840" cy="1097280"/>
          </a:xfrm>
          <a:prstGeom prst="roundRect">
            <a:avLst>
              <a:gd name="adj" fmla="val 6667"/>
            </a:avLst>
          </a:prstGeom>
          <a:solidFill>
            <a:srgbClr val="1B2B4F"/>
          </a:solidFill>
          <a:ln w="12700">
            <a:solidFill>
              <a:srgbClr val="1B2B4F"/>
            </a:solidFill>
            <a:prstDash val="solid"/>
          </a:ln>
        </p:spPr>
      </p:sp>
      <p:sp>
        <p:nvSpPr>
          <p:cNvPr id="21" name="Text 16"/>
          <p:cNvSpPr txBox="1"/>
          <p:nvPr/>
        </p:nvSpPr>
        <p:spPr>
          <a:xfrm>
            <a:off x="5504688" y="3675888"/>
            <a:ext cx="3072384" cy="987552"/>
          </a:xfrm>
          <a:prstGeom prst="rect">
            <a:avLst/>
          </a:prstGeom>
          <a:noFill/>
        </p:spPr>
        <p:txBody>
          <a:bodyPr wrap="square" lIns="0" tIns="0" rIns="0" bIns="0" rtlCol="0" anchor="ctr"/>
          <a:lstStyle/>
          <a:p>
            <a:pPr marL="0" indent="0">
              <a:buNone/>
            </a:pPr>
            <a:r>
              <a:rPr lang="en-US" sz="1200" dirty="0">
                <a:solidFill>
                  <a:srgbClr val="F1F4FA"/>
                </a:solidFill>
              </a:rPr>
              <a:t>Index is standardised within each season and never uses the win/loss column. Win % rises with tier, but correlation ≠ causation.</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07 · BUSINESS INSIGHTS</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Key Business Insights</a:t>
            </a:r>
            <a:endParaRPr lang="en-US" sz="2600" dirty="0"/>
          </a:p>
        </p:txBody>
      </p:sp>
      <p:sp>
        <p:nvSpPr>
          <p:cNvPr id="5" name="card"/>
          <p:cNvSpPr/>
          <p:nvPr/>
        </p:nvSpPr>
        <p:spPr>
          <a:xfrm>
            <a:off x="457200" y="1051560"/>
            <a:ext cx="2651760" cy="1764792"/>
          </a:xfrm>
          <a:prstGeom prst="roundRect">
            <a:avLst>
              <a:gd name="adj" fmla="val 4145"/>
            </a:avLst>
          </a:prstGeom>
          <a:solidFill>
            <a:srgbClr val="14213D"/>
          </a:solidFill>
          <a:ln w="12700">
            <a:solidFill>
              <a:srgbClr val="14213D"/>
            </a:solidFill>
            <a:prstDash val="solid"/>
          </a:ln>
        </p:spPr>
      </p:sp>
      <p:sp>
        <p:nvSpPr>
          <p:cNvPr id="6" name="Text 3"/>
          <p:cNvSpPr/>
          <p:nvPr/>
        </p:nvSpPr>
        <p:spPr>
          <a:xfrm>
            <a:off x="566928" y="1161288"/>
            <a:ext cx="292608" cy="292608"/>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1</a:t>
            </a:r>
            <a:endParaRPr lang="en-US" sz="1200" dirty="0"/>
          </a:p>
        </p:txBody>
      </p:sp>
      <p:sp>
        <p:nvSpPr>
          <p:cNvPr id="7" name="Text 4"/>
          <p:cNvSpPr txBox="1"/>
          <p:nvPr/>
        </p:nvSpPr>
        <p:spPr>
          <a:xfrm>
            <a:off x="566928" y="1527048"/>
            <a:ext cx="2432304" cy="685800"/>
          </a:xfrm>
          <a:prstGeom prst="rect">
            <a:avLst/>
          </a:prstGeom>
          <a:noFill/>
        </p:spPr>
        <p:txBody>
          <a:bodyPr wrap="square" lIns="0" tIns="0" rIns="0" bIns="0" rtlCol="0" anchor="t"/>
          <a:lstStyle/>
          <a:p>
            <a:pPr marL="0" indent="0">
              <a:buNone/>
            </a:pPr>
            <a:r>
              <a:rPr lang="en-US" sz="1200" b="1" dirty="0">
                <a:solidFill>
                  <a:srgbClr val="F1F4FA"/>
                </a:solidFill>
              </a:rPr>
              <a:t>Winning innings tend to score faster, with fewer dot balls (H1, H2)</a:t>
            </a:r>
            <a:endParaRPr lang="en-US" sz="1200" dirty="0"/>
          </a:p>
        </p:txBody>
      </p:sp>
      <p:sp>
        <p:nvSpPr>
          <p:cNvPr id="8" name="Text 5"/>
          <p:cNvSpPr txBox="1"/>
          <p:nvPr/>
        </p:nvSpPr>
        <p:spPr>
          <a:xfrm>
            <a:off x="566928" y="2212848"/>
            <a:ext cx="2432304" cy="566928"/>
          </a:xfrm>
          <a:prstGeom prst="rect">
            <a:avLst/>
          </a:prstGeom>
          <a:noFill/>
        </p:spPr>
        <p:txBody>
          <a:bodyPr wrap="square" lIns="0" tIns="0" rIns="0" bIns="0" rtlCol="0" anchor="t"/>
          <a:lstStyle/>
          <a:p>
            <a:pPr marL="0" indent="0">
              <a:buNone/>
            </a:pPr>
            <a:r>
              <a:rPr lang="en-US" sz="1100" dirty="0">
                <a:solidFill>
                  <a:srgbClr val="9AA5B8"/>
                </a:solidFill>
              </a:rPr>
              <a:t>Evidence: Run rate: wins 8.89 vs losses 7.74; dot %: 34.1 vs 38.0</a:t>
            </a:r>
            <a:endParaRPr lang="en-US" sz="1100" dirty="0"/>
          </a:p>
        </p:txBody>
      </p:sp>
      <p:sp>
        <p:nvSpPr>
          <p:cNvPr id="9" name="card"/>
          <p:cNvSpPr/>
          <p:nvPr/>
        </p:nvSpPr>
        <p:spPr>
          <a:xfrm>
            <a:off x="3246120" y="1051560"/>
            <a:ext cx="2651760" cy="1764792"/>
          </a:xfrm>
          <a:prstGeom prst="roundRect">
            <a:avLst>
              <a:gd name="adj" fmla="val 4145"/>
            </a:avLst>
          </a:prstGeom>
          <a:solidFill>
            <a:srgbClr val="14213D"/>
          </a:solidFill>
          <a:ln w="12700">
            <a:solidFill>
              <a:srgbClr val="14213D"/>
            </a:solidFill>
            <a:prstDash val="solid"/>
          </a:ln>
        </p:spPr>
      </p:sp>
      <p:sp>
        <p:nvSpPr>
          <p:cNvPr id="10" name="Text 7"/>
          <p:cNvSpPr/>
          <p:nvPr/>
        </p:nvSpPr>
        <p:spPr>
          <a:xfrm>
            <a:off x="3355848" y="1161288"/>
            <a:ext cx="292608" cy="292608"/>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2</a:t>
            </a:r>
            <a:endParaRPr lang="en-US" sz="1200" dirty="0"/>
          </a:p>
        </p:txBody>
      </p:sp>
      <p:sp>
        <p:nvSpPr>
          <p:cNvPr id="11" name="Text 8"/>
          <p:cNvSpPr txBox="1"/>
          <p:nvPr/>
        </p:nvSpPr>
        <p:spPr>
          <a:xfrm>
            <a:off x="3355848" y="1527048"/>
            <a:ext cx="2432304" cy="685800"/>
          </a:xfrm>
          <a:prstGeom prst="rect">
            <a:avLst/>
          </a:prstGeom>
          <a:noFill/>
        </p:spPr>
        <p:txBody>
          <a:bodyPr wrap="square" lIns="0" tIns="0" rIns="0" bIns="0" rtlCol="0" anchor="t"/>
          <a:lstStyle/>
          <a:p>
            <a:pPr marL="0" indent="0">
              <a:buNone/>
            </a:pPr>
            <a:r>
              <a:rPr lang="en-US" sz="1200" b="1" dirty="0">
                <a:solidFill>
                  <a:srgbClr val="F1F4FA"/>
                </a:solidFill>
              </a:rPr>
              <a:t>Powerplay collapses can be associated with worse results (H4)</a:t>
            </a:r>
            <a:endParaRPr lang="en-US" sz="1200" dirty="0"/>
          </a:p>
        </p:txBody>
      </p:sp>
      <p:sp>
        <p:nvSpPr>
          <p:cNvPr id="12" name="Text 9"/>
          <p:cNvSpPr txBox="1"/>
          <p:nvPr/>
        </p:nvSpPr>
        <p:spPr>
          <a:xfrm>
            <a:off x="3355848" y="2212848"/>
            <a:ext cx="2432304" cy="566928"/>
          </a:xfrm>
          <a:prstGeom prst="rect">
            <a:avLst/>
          </a:prstGeom>
          <a:noFill/>
        </p:spPr>
        <p:txBody>
          <a:bodyPr wrap="square" lIns="0" tIns="0" rIns="0" bIns="0" rtlCol="0" anchor="t"/>
          <a:lstStyle/>
          <a:p>
            <a:pPr marL="0" indent="0">
              <a:buNone/>
            </a:pPr>
            <a:r>
              <a:rPr lang="en-US" sz="1100" dirty="0">
                <a:solidFill>
                  <a:srgbClr val="9AA5B8"/>
                </a:solidFill>
              </a:rPr>
              <a:t>Evidence: Win % with 3+ PP wickets lost: 24.7% vs 54.9% otherwise</a:t>
            </a:r>
            <a:endParaRPr lang="en-US" sz="1100" dirty="0"/>
          </a:p>
        </p:txBody>
      </p:sp>
      <p:sp>
        <p:nvSpPr>
          <p:cNvPr id="13" name="card"/>
          <p:cNvSpPr/>
          <p:nvPr/>
        </p:nvSpPr>
        <p:spPr>
          <a:xfrm>
            <a:off x="6035040" y="1051560"/>
            <a:ext cx="2651760" cy="1764792"/>
          </a:xfrm>
          <a:prstGeom prst="roundRect">
            <a:avLst>
              <a:gd name="adj" fmla="val 4145"/>
            </a:avLst>
          </a:prstGeom>
          <a:solidFill>
            <a:srgbClr val="14213D"/>
          </a:solidFill>
          <a:ln w="12700">
            <a:solidFill>
              <a:srgbClr val="14213D"/>
            </a:solidFill>
            <a:prstDash val="solid"/>
          </a:ln>
        </p:spPr>
      </p:sp>
      <p:sp>
        <p:nvSpPr>
          <p:cNvPr id="14" name="Text 11"/>
          <p:cNvSpPr/>
          <p:nvPr/>
        </p:nvSpPr>
        <p:spPr>
          <a:xfrm>
            <a:off x="6144768" y="1161288"/>
            <a:ext cx="292608" cy="292608"/>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3</a:t>
            </a:r>
            <a:endParaRPr lang="en-US" sz="1200" dirty="0"/>
          </a:p>
        </p:txBody>
      </p:sp>
      <p:sp>
        <p:nvSpPr>
          <p:cNvPr id="15" name="Text 12"/>
          <p:cNvSpPr txBox="1"/>
          <p:nvPr/>
        </p:nvSpPr>
        <p:spPr>
          <a:xfrm>
            <a:off x="6144768" y="1527048"/>
            <a:ext cx="2432304" cy="685800"/>
          </a:xfrm>
          <a:prstGeom prst="rect">
            <a:avLst/>
          </a:prstGeom>
          <a:noFill/>
        </p:spPr>
        <p:txBody>
          <a:bodyPr wrap="square" lIns="0" tIns="0" rIns="0" bIns="0" rtlCol="0" anchor="t"/>
          <a:lstStyle/>
          <a:p>
            <a:pPr marL="0" indent="0">
              <a:buNone/>
            </a:pPr>
            <a:r>
              <a:rPr lang="en-US" sz="1200" b="1" dirty="0">
                <a:solidFill>
                  <a:srgbClr val="F1F4FA"/>
                </a:solidFill>
              </a:rPr>
              <a:t>Scoring and boundary patterns change across seasons (H5)</a:t>
            </a:r>
            <a:endParaRPr lang="en-US" sz="1200" dirty="0"/>
          </a:p>
        </p:txBody>
      </p:sp>
      <p:sp>
        <p:nvSpPr>
          <p:cNvPr id="16" name="Text 13"/>
          <p:cNvSpPr txBox="1"/>
          <p:nvPr/>
        </p:nvSpPr>
        <p:spPr>
          <a:xfrm>
            <a:off x="6144768" y="2212848"/>
            <a:ext cx="2432304" cy="566928"/>
          </a:xfrm>
          <a:prstGeom prst="rect">
            <a:avLst/>
          </a:prstGeom>
          <a:noFill/>
        </p:spPr>
        <p:txBody>
          <a:bodyPr wrap="square" lIns="0" tIns="0" rIns="0" bIns="0" rtlCol="0" anchor="t"/>
          <a:lstStyle/>
          <a:p>
            <a:pPr marL="0" indent="0">
              <a:buNone/>
            </a:pPr>
            <a:r>
              <a:rPr lang="en-US" sz="1100" dirty="0">
                <a:solidFill>
                  <a:srgbClr val="9AA5B8"/>
                </a:solidFill>
              </a:rPr>
              <a:t>Evidence: Run rate 2008–15: 7.97 vs 2016+: 8.62; sixes per match 10.74 (2008) → 17.76 (2024)</a:t>
            </a:r>
            <a:endParaRPr lang="en-US" sz="1100" dirty="0"/>
          </a:p>
        </p:txBody>
      </p:sp>
      <p:sp>
        <p:nvSpPr>
          <p:cNvPr id="17" name="card"/>
          <p:cNvSpPr/>
          <p:nvPr/>
        </p:nvSpPr>
        <p:spPr>
          <a:xfrm>
            <a:off x="457200" y="2926080"/>
            <a:ext cx="2651760" cy="1764792"/>
          </a:xfrm>
          <a:prstGeom prst="roundRect">
            <a:avLst>
              <a:gd name="adj" fmla="val 4145"/>
            </a:avLst>
          </a:prstGeom>
          <a:solidFill>
            <a:srgbClr val="14213D"/>
          </a:solidFill>
          <a:ln w="12700">
            <a:solidFill>
              <a:srgbClr val="14213D"/>
            </a:solidFill>
            <a:prstDash val="solid"/>
          </a:ln>
        </p:spPr>
      </p:sp>
      <p:sp>
        <p:nvSpPr>
          <p:cNvPr id="18" name="Text 15"/>
          <p:cNvSpPr/>
          <p:nvPr/>
        </p:nvSpPr>
        <p:spPr>
          <a:xfrm>
            <a:off x="566928" y="3035808"/>
            <a:ext cx="292608" cy="292608"/>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4</a:t>
            </a:r>
            <a:endParaRPr lang="en-US" sz="1200" dirty="0"/>
          </a:p>
        </p:txBody>
      </p:sp>
      <p:sp>
        <p:nvSpPr>
          <p:cNvPr id="19" name="Text 16"/>
          <p:cNvSpPr txBox="1"/>
          <p:nvPr/>
        </p:nvSpPr>
        <p:spPr>
          <a:xfrm>
            <a:off x="566928" y="3401568"/>
            <a:ext cx="2432304" cy="685800"/>
          </a:xfrm>
          <a:prstGeom prst="rect">
            <a:avLst/>
          </a:prstGeom>
          <a:noFill/>
        </p:spPr>
        <p:txBody>
          <a:bodyPr wrap="square" lIns="0" tIns="0" rIns="0" bIns="0" rtlCol="0" anchor="t"/>
          <a:lstStyle/>
          <a:p>
            <a:pPr marL="0" indent="0">
              <a:buNone/>
            </a:pPr>
            <a:r>
              <a:rPr lang="en-US" sz="1200" b="1" dirty="0">
                <a:solidFill>
                  <a:srgbClr val="F1F4FA"/>
                </a:solidFill>
              </a:rPr>
              <a:t>Teams have different batting and bowling strengths</a:t>
            </a:r>
            <a:endParaRPr lang="en-US" sz="1200" dirty="0"/>
          </a:p>
        </p:txBody>
      </p:sp>
      <p:sp>
        <p:nvSpPr>
          <p:cNvPr id="20" name="Text 17"/>
          <p:cNvSpPr txBox="1"/>
          <p:nvPr/>
        </p:nvSpPr>
        <p:spPr>
          <a:xfrm>
            <a:off x="566928" y="4087368"/>
            <a:ext cx="2432304" cy="566928"/>
          </a:xfrm>
          <a:prstGeom prst="rect">
            <a:avLst/>
          </a:prstGeom>
          <a:noFill/>
        </p:spPr>
        <p:txBody>
          <a:bodyPr wrap="square" lIns="0" tIns="0" rIns="0" bIns="0" rtlCol="0" anchor="t"/>
          <a:lstStyle/>
          <a:p>
            <a:pPr marL="0" indent="0">
              <a:buNone/>
            </a:pPr>
            <a:r>
              <a:rPr lang="en-US" sz="1100" dirty="0">
                <a:solidFill>
                  <a:srgbClr val="9AA5B8"/>
                </a:solidFill>
              </a:rPr>
              <a:t>Evidence: 4 batting-led, 5 bowling-led, 5 balanced; but H6 franchise run rates are not significantly different (p = 0.739)</a:t>
            </a:r>
            <a:endParaRPr lang="en-US" sz="1100" dirty="0"/>
          </a:p>
        </p:txBody>
      </p:sp>
      <p:sp>
        <p:nvSpPr>
          <p:cNvPr id="21" name="card"/>
          <p:cNvSpPr/>
          <p:nvPr/>
        </p:nvSpPr>
        <p:spPr>
          <a:xfrm>
            <a:off x="3246120" y="2926080"/>
            <a:ext cx="2651760" cy="1764792"/>
          </a:xfrm>
          <a:prstGeom prst="roundRect">
            <a:avLst>
              <a:gd name="adj" fmla="val 4145"/>
            </a:avLst>
          </a:prstGeom>
          <a:solidFill>
            <a:srgbClr val="14213D"/>
          </a:solidFill>
          <a:ln w="12700">
            <a:solidFill>
              <a:srgbClr val="14213D"/>
            </a:solidFill>
            <a:prstDash val="solid"/>
          </a:ln>
        </p:spPr>
      </p:sp>
      <p:sp>
        <p:nvSpPr>
          <p:cNvPr id="22" name="Text 19"/>
          <p:cNvSpPr/>
          <p:nvPr/>
        </p:nvSpPr>
        <p:spPr>
          <a:xfrm>
            <a:off x="3355848" y="3035808"/>
            <a:ext cx="292608" cy="292608"/>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5</a:t>
            </a:r>
            <a:endParaRPr lang="en-US" sz="1200" dirty="0"/>
          </a:p>
        </p:txBody>
      </p:sp>
      <p:sp>
        <p:nvSpPr>
          <p:cNvPr id="23" name="Text 20"/>
          <p:cNvSpPr txBox="1"/>
          <p:nvPr/>
        </p:nvSpPr>
        <p:spPr>
          <a:xfrm>
            <a:off x="3355848" y="3401568"/>
            <a:ext cx="2432304" cy="685800"/>
          </a:xfrm>
          <a:prstGeom prst="rect">
            <a:avLst/>
          </a:prstGeom>
          <a:noFill/>
        </p:spPr>
        <p:txBody>
          <a:bodyPr wrap="square" lIns="0" tIns="0" rIns="0" bIns="0" rtlCol="0" anchor="t"/>
          <a:lstStyle/>
          <a:p>
            <a:pPr marL="0" indent="0">
              <a:buNone/>
            </a:pPr>
            <a:r>
              <a:rPr lang="en-US" sz="1200" b="1" dirty="0">
                <a:solidFill>
                  <a:srgbClr val="F1F4FA"/>
                </a:solidFill>
              </a:rPr>
              <a:t>Performance differs across innings phases and roles</a:t>
            </a:r>
            <a:endParaRPr lang="en-US" sz="1200" dirty="0"/>
          </a:p>
        </p:txBody>
      </p:sp>
      <p:sp>
        <p:nvSpPr>
          <p:cNvPr id="24" name="Text 21"/>
          <p:cNvSpPr txBox="1"/>
          <p:nvPr/>
        </p:nvSpPr>
        <p:spPr>
          <a:xfrm>
            <a:off x="3355848" y="4087368"/>
            <a:ext cx="2432304" cy="566928"/>
          </a:xfrm>
          <a:prstGeom prst="rect">
            <a:avLst/>
          </a:prstGeom>
          <a:noFill/>
        </p:spPr>
        <p:txBody>
          <a:bodyPr wrap="square" lIns="0" tIns="0" rIns="0" bIns="0" rtlCol="0" anchor="t"/>
          <a:lstStyle/>
          <a:p>
            <a:pPr marL="0" indent="0">
              <a:buNone/>
            </a:pPr>
            <a:r>
              <a:rPr lang="en-US" sz="1100" dirty="0">
                <a:solidFill>
                  <a:srgbClr val="9AA5B8"/>
                </a:solidFill>
              </a:rPr>
              <a:t>Evidence: Largest chase edge: Kolkata Knight Riders (+15.4 pts); best death batting: Gujarat Titans (11.37)</a:t>
            </a:r>
            <a:endParaRPr lang="en-US" sz="1100" dirty="0"/>
          </a:p>
        </p:txBody>
      </p:sp>
      <p:sp>
        <p:nvSpPr>
          <p:cNvPr id="25" name="card"/>
          <p:cNvSpPr/>
          <p:nvPr/>
        </p:nvSpPr>
        <p:spPr>
          <a:xfrm>
            <a:off x="6035040" y="2926080"/>
            <a:ext cx="2651760" cy="1764792"/>
          </a:xfrm>
          <a:prstGeom prst="roundRect">
            <a:avLst>
              <a:gd name="adj" fmla="val 4145"/>
            </a:avLst>
          </a:prstGeom>
          <a:solidFill>
            <a:srgbClr val="14213D"/>
          </a:solidFill>
          <a:ln w="12700">
            <a:solidFill>
              <a:srgbClr val="14213D"/>
            </a:solidFill>
            <a:prstDash val="solid"/>
          </a:ln>
        </p:spPr>
      </p:sp>
      <p:sp>
        <p:nvSpPr>
          <p:cNvPr id="26" name="Text 23"/>
          <p:cNvSpPr/>
          <p:nvPr/>
        </p:nvSpPr>
        <p:spPr>
          <a:xfrm>
            <a:off x="6144768" y="3035808"/>
            <a:ext cx="292608" cy="292608"/>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6</a:t>
            </a:r>
            <a:endParaRPr lang="en-US" sz="1200" dirty="0"/>
          </a:p>
        </p:txBody>
      </p:sp>
      <p:sp>
        <p:nvSpPr>
          <p:cNvPr id="27" name="Text 24"/>
          <p:cNvSpPr txBox="1"/>
          <p:nvPr/>
        </p:nvSpPr>
        <p:spPr>
          <a:xfrm>
            <a:off x="6144768" y="3401568"/>
            <a:ext cx="2432304" cy="685800"/>
          </a:xfrm>
          <a:prstGeom prst="rect">
            <a:avLst/>
          </a:prstGeom>
          <a:noFill/>
        </p:spPr>
        <p:txBody>
          <a:bodyPr wrap="square" lIns="0" tIns="0" rIns="0" bIns="0" rtlCol="0" anchor="t"/>
          <a:lstStyle/>
          <a:p>
            <a:pPr marL="0" indent="0">
              <a:buNone/>
            </a:pPr>
            <a:r>
              <a:rPr lang="en-US" sz="1200" b="1" dirty="0">
                <a:solidFill>
                  <a:srgbClr val="F1F4FA"/>
                </a:solidFill>
              </a:rPr>
              <a:t>The Index gives an interpretable team-season comparison</a:t>
            </a:r>
            <a:endParaRPr lang="en-US" sz="1200" dirty="0"/>
          </a:p>
        </p:txBody>
      </p:sp>
      <p:sp>
        <p:nvSpPr>
          <p:cNvPr id="28" name="Text 25"/>
          <p:cNvSpPr txBox="1"/>
          <p:nvPr/>
        </p:nvSpPr>
        <p:spPr>
          <a:xfrm>
            <a:off x="6144768" y="4087368"/>
            <a:ext cx="2432304" cy="566928"/>
          </a:xfrm>
          <a:prstGeom prst="rect">
            <a:avLst/>
          </a:prstGeom>
          <a:noFill/>
        </p:spPr>
        <p:txBody>
          <a:bodyPr wrap="square" lIns="0" tIns="0" rIns="0" bIns="0" rtlCol="0" anchor="t"/>
          <a:lstStyle/>
          <a:p>
            <a:pPr marL="0" indent="0">
              <a:buNone/>
            </a:pPr>
            <a:r>
              <a:rPr lang="en-US" sz="1100" dirty="0">
                <a:solidFill>
                  <a:srgbClr val="9AA5B8"/>
                </a:solidFill>
              </a:rPr>
              <a:t>Evidence: Spearman ρ = 0.73; Elite avg win % 64.7 vs Struggling 38.8</a:t>
            </a:r>
            <a:endParaRPr lang="en-US" sz="1100" dirty="0"/>
          </a:p>
        </p:txBody>
      </p:sp>
      <p:sp>
        <p:nvSpPr>
          <p:cNvPr id="4"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08 · RECOMMENDATIONS</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Recommendations and Limitations</a:t>
            </a:r>
            <a:endParaRPr lang="en-US" sz="2600" dirty="0"/>
          </a:p>
        </p:txBody>
      </p:sp>
      <p:sp>
        <p:nvSpPr>
          <p:cNvPr id="5" name="card"/>
          <p:cNvSpPr/>
          <p:nvPr/>
        </p:nvSpPr>
        <p:spPr>
          <a:xfrm>
            <a:off x="457200" y="1051560"/>
            <a:ext cx="2651760" cy="3657600"/>
          </a:xfrm>
          <a:prstGeom prst="roundRect">
            <a:avLst>
              <a:gd name="adj" fmla="val 2759"/>
            </a:avLst>
          </a:prstGeom>
          <a:solidFill>
            <a:srgbClr val="14213D"/>
          </a:solidFill>
          <a:ln w="12700">
            <a:solidFill>
              <a:srgbClr val="14213D"/>
            </a:solidFill>
            <a:prstDash val="solid"/>
          </a:ln>
        </p:spPr>
      </p:sp>
      <p:sp>
        <p:nvSpPr>
          <p:cNvPr id="6" name="Shape 3"/>
          <p:cNvSpPr/>
          <p:nvPr/>
        </p:nvSpPr>
        <p:spPr>
          <a:xfrm>
            <a:off x="594360" y="1188720"/>
            <a:ext cx="182880" cy="182880"/>
          </a:xfrm>
          <a:prstGeom prst="ellipse">
            <a:avLst/>
          </a:prstGeom>
          <a:solidFill>
            <a:srgbClr val="2FBF71"/>
          </a:solidFill>
          <a:ln w="12700">
            <a:solidFill>
              <a:srgbClr val="2FBF71"/>
            </a:solidFill>
            <a:prstDash val="solid"/>
          </a:ln>
        </p:spPr>
      </p:sp>
      <p:sp>
        <p:nvSpPr>
          <p:cNvPr id="7" name="Text 4"/>
          <p:cNvSpPr txBox="1"/>
          <p:nvPr/>
        </p:nvSpPr>
        <p:spPr>
          <a:xfrm>
            <a:off x="868680" y="1152144"/>
            <a:ext cx="2103120" cy="274320"/>
          </a:xfrm>
          <a:prstGeom prst="rect">
            <a:avLst/>
          </a:prstGeom>
          <a:noFill/>
        </p:spPr>
        <p:txBody>
          <a:bodyPr wrap="square" lIns="0" tIns="0" rIns="0" bIns="0" rtlCol="0" anchor="t"/>
          <a:lstStyle/>
          <a:p>
            <a:pPr marL="0" indent="0">
              <a:buNone/>
            </a:pPr>
            <a:r>
              <a:rPr lang="en-US" sz="1500" b="1" dirty="0">
                <a:solidFill>
                  <a:srgbClr val="F1F4FA"/>
                </a:solidFill>
              </a:rPr>
              <a:t>Recommendations</a:t>
            </a:r>
            <a:endParaRPr lang="en-US" sz="1500" dirty="0"/>
          </a:p>
        </p:txBody>
      </p:sp>
      <p:sp>
        <p:nvSpPr>
          <p:cNvPr id="8" name="Text 5"/>
          <p:cNvSpPr txBox="1"/>
          <p:nvPr/>
        </p:nvSpPr>
        <p:spPr>
          <a:xfrm>
            <a:off x="594360" y="1554480"/>
            <a:ext cx="2395728" cy="3063240"/>
          </a:xfrm>
          <a:prstGeom prst="rect">
            <a:avLst/>
          </a:prstGeom>
          <a:noFill/>
        </p:spPr>
        <p:txBody>
          <a:bodyPr wrap="square" lIns="0" tIns="0" rIns="0" bIns="0" rtlCol="0" anchor="t"/>
          <a:lstStyle/>
          <a:p>
            <a:pPr marL="152400" indent="-152400">
              <a:spcAft>
                <a:spcPts val="600"/>
              </a:spcAft>
              <a:buSzPct val="100000"/>
              <a:buChar char="•"/>
            </a:pPr>
            <a:r>
              <a:rPr lang="en-US" sz="1200" dirty="0">
                <a:solidFill>
                  <a:srgbClr val="F1F4FA"/>
                </a:solidFill>
              </a:rPr>
              <a:t>Use report cards to find the weakest metrics</a:t>
            </a:r>
            <a:endParaRPr lang="en-US" sz="1200" dirty="0"/>
          </a:p>
          <a:p>
            <a:pPr marL="152400" indent="-152400">
              <a:spcAft>
                <a:spcPts val="600"/>
              </a:spcAft>
              <a:buSzPct val="100000"/>
              <a:buChar char="•"/>
            </a:pPr>
            <a:r>
              <a:rPr lang="en-US" sz="1200" dirty="0">
                <a:solidFill>
                  <a:srgbClr val="F1F4FA"/>
                </a:solidFill>
              </a:rPr>
              <a:t>Aim auction spend at identified gaps</a:t>
            </a:r>
            <a:endParaRPr lang="en-US" sz="1200" dirty="0"/>
          </a:p>
          <a:p>
            <a:pPr marL="152400" indent="-152400">
              <a:spcAft>
                <a:spcPts val="600"/>
              </a:spcAft>
              <a:buSzPct val="100000"/>
              <a:buChar char="•"/>
            </a:pPr>
            <a:r>
              <a:rPr lang="en-US" sz="1200" dirty="0">
                <a:solidFill>
                  <a:srgbClr val="F1F4FA"/>
                </a:solidFill>
              </a:rPr>
              <a:t>Protect the powerplay; cut dot balls</a:t>
            </a:r>
            <a:endParaRPr lang="en-US" sz="1200" dirty="0"/>
          </a:p>
          <a:p>
            <a:pPr marL="152400" indent="-152400">
              <a:spcAft>
                <a:spcPts val="600"/>
              </a:spcAft>
              <a:buSzPct val="100000"/>
              <a:buChar char="•"/>
            </a:pPr>
            <a:r>
              <a:rPr lang="en-US" sz="1200" dirty="0">
                <a:solidFill>
                  <a:srgbClr val="F1F4FA"/>
                </a:solidFill>
              </a:rPr>
              <a:t>Strengthen death-over batting or bowling</a:t>
            </a:r>
            <a:endParaRPr lang="en-US" sz="1200" dirty="0"/>
          </a:p>
          <a:p>
            <a:pPr marL="152400" indent="-152400">
              <a:spcAft>
                <a:spcPts val="600"/>
              </a:spcAft>
              <a:buSzPct val="100000"/>
              <a:buChar char="•"/>
            </a:pPr>
            <a:r>
              <a:rPr lang="en-US" sz="1200" dirty="0">
                <a:solidFill>
                  <a:srgbClr val="F1F4FA"/>
                </a:solidFill>
              </a:rPr>
              <a:t>Prepare separately for defending and chasing</a:t>
            </a:r>
            <a:endParaRPr lang="en-US" sz="1200" dirty="0"/>
          </a:p>
          <a:p>
            <a:pPr marL="152400" indent="-152400">
              <a:spcAft>
                <a:spcPts val="600"/>
              </a:spcAft>
              <a:buSzPct val="100000"/>
              <a:buChar char="•"/>
            </a:pPr>
            <a:r>
              <a:rPr lang="en-US" sz="1200" dirty="0">
                <a:solidFill>
                  <a:srgbClr val="F1F4FA"/>
                </a:solidFill>
              </a:rPr>
              <a:t>Track the index every season</a:t>
            </a:r>
            <a:endParaRPr lang="en-US" sz="1200" dirty="0"/>
          </a:p>
        </p:txBody>
      </p:sp>
      <p:sp>
        <p:nvSpPr>
          <p:cNvPr id="9" name="card"/>
          <p:cNvSpPr/>
          <p:nvPr/>
        </p:nvSpPr>
        <p:spPr>
          <a:xfrm>
            <a:off x="3246120" y="1051560"/>
            <a:ext cx="2651760" cy="3657600"/>
          </a:xfrm>
          <a:prstGeom prst="roundRect">
            <a:avLst>
              <a:gd name="adj" fmla="val 2759"/>
            </a:avLst>
          </a:prstGeom>
          <a:solidFill>
            <a:srgbClr val="14213D"/>
          </a:solidFill>
          <a:ln w="12700">
            <a:solidFill>
              <a:srgbClr val="14213D"/>
            </a:solidFill>
            <a:prstDash val="solid"/>
          </a:ln>
        </p:spPr>
      </p:sp>
      <p:sp>
        <p:nvSpPr>
          <p:cNvPr id="10" name="Shape 7"/>
          <p:cNvSpPr/>
          <p:nvPr/>
        </p:nvSpPr>
        <p:spPr>
          <a:xfrm>
            <a:off x="3383280" y="1188720"/>
            <a:ext cx="182880" cy="182880"/>
          </a:xfrm>
          <a:prstGeom prst="ellipse">
            <a:avLst/>
          </a:prstGeom>
          <a:solidFill>
            <a:srgbClr val="E63946"/>
          </a:solidFill>
          <a:ln w="12700">
            <a:solidFill>
              <a:srgbClr val="E63946"/>
            </a:solidFill>
            <a:prstDash val="solid"/>
          </a:ln>
        </p:spPr>
      </p:sp>
      <p:sp>
        <p:nvSpPr>
          <p:cNvPr id="11" name="Text 8"/>
          <p:cNvSpPr txBox="1"/>
          <p:nvPr/>
        </p:nvSpPr>
        <p:spPr>
          <a:xfrm>
            <a:off x="3657600" y="1152144"/>
            <a:ext cx="2103120" cy="274320"/>
          </a:xfrm>
          <a:prstGeom prst="rect">
            <a:avLst/>
          </a:prstGeom>
          <a:noFill/>
        </p:spPr>
        <p:txBody>
          <a:bodyPr wrap="square" lIns="0" tIns="0" rIns="0" bIns="0" rtlCol="0" anchor="t"/>
          <a:lstStyle/>
          <a:p>
            <a:pPr marL="0" indent="0">
              <a:buNone/>
            </a:pPr>
            <a:r>
              <a:rPr lang="en-US" sz="1500" b="1" dirty="0">
                <a:solidFill>
                  <a:srgbClr val="F1F4FA"/>
                </a:solidFill>
              </a:rPr>
              <a:t>Limitations</a:t>
            </a:r>
            <a:endParaRPr lang="en-US" sz="1500" dirty="0"/>
          </a:p>
        </p:txBody>
      </p:sp>
      <p:sp>
        <p:nvSpPr>
          <p:cNvPr id="12" name="Text 9"/>
          <p:cNvSpPr txBox="1"/>
          <p:nvPr/>
        </p:nvSpPr>
        <p:spPr>
          <a:xfrm>
            <a:off x="3383280" y="1554480"/>
            <a:ext cx="2395728" cy="3063240"/>
          </a:xfrm>
          <a:prstGeom prst="rect">
            <a:avLst/>
          </a:prstGeom>
          <a:noFill/>
        </p:spPr>
        <p:txBody>
          <a:bodyPr wrap="square" lIns="0" tIns="0" rIns="0" bIns="0" rtlCol="0" anchor="t"/>
          <a:lstStyle/>
          <a:p>
            <a:pPr marL="152400" indent="-152400">
              <a:spcAft>
                <a:spcPts val="600"/>
              </a:spcAft>
              <a:buSzPct val="100000"/>
              <a:buChar char="•"/>
            </a:pPr>
            <a:r>
              <a:rPr lang="en-US" sz="1200" dirty="0">
                <a:solidFill>
                  <a:srgbClr val="F1F4FA"/>
                </a:solidFill>
              </a:rPr>
              <a:t>Equal weights are a judgement call</a:t>
            </a:r>
            <a:endParaRPr lang="en-US" sz="1200" dirty="0"/>
          </a:p>
          <a:p>
            <a:pPr marL="152400" indent="-152400">
              <a:spcAft>
                <a:spcPts val="600"/>
              </a:spcAft>
              <a:buSzPct val="100000"/>
              <a:buChar char="•"/>
            </a:pPr>
            <a:r>
              <a:rPr lang="en-US" sz="1200" dirty="0">
                <a:solidFill>
                  <a:srgbClr val="F1F4FA"/>
                </a:solidFill>
              </a:rPr>
              <a:t>Small team-season samples</a:t>
            </a:r>
            <a:endParaRPr lang="en-US" sz="1200" dirty="0"/>
          </a:p>
          <a:p>
            <a:pPr marL="152400" indent="-152400">
              <a:spcAft>
                <a:spcPts val="600"/>
              </a:spcAft>
              <a:buSzPct val="100000"/>
              <a:buChar char="•"/>
            </a:pPr>
            <a:r>
              <a:rPr lang="en-US" sz="1200" dirty="0">
                <a:solidFill>
                  <a:srgbClr val="F1F4FA"/>
                </a:solidFill>
              </a:rPr>
              <a:t>Squads change every auction</a:t>
            </a:r>
            <a:endParaRPr lang="en-US" sz="1200" dirty="0"/>
          </a:p>
          <a:p>
            <a:pPr marL="152400" indent="-152400">
              <a:spcAft>
                <a:spcPts val="600"/>
              </a:spcAft>
              <a:buSzPct val="100000"/>
              <a:buChar char="•"/>
            </a:pPr>
            <a:r>
              <a:rPr lang="en-US" sz="1200" dirty="0">
                <a:solidFill>
                  <a:srgbClr val="F1F4FA"/>
                </a:solidFill>
              </a:rPr>
              <a:t>Innings of one match are not independent, so p-values are approximate</a:t>
            </a:r>
            <a:endParaRPr lang="en-US" sz="1200" dirty="0"/>
          </a:p>
          <a:p>
            <a:pPr marL="152400" indent="-152400">
              <a:spcAft>
                <a:spcPts val="600"/>
              </a:spcAft>
              <a:buSzPct val="100000"/>
              <a:buChar char="•"/>
            </a:pPr>
            <a:r>
              <a:rPr lang="en-US" sz="1200" dirty="0">
                <a:solidFill>
                  <a:srgbClr val="F1F4FA"/>
                </a:solidFill>
              </a:rPr>
              <a:t>Venue, pitch, toss and opposition not adjusted</a:t>
            </a:r>
            <a:endParaRPr lang="en-US" sz="1200" dirty="0"/>
          </a:p>
        </p:txBody>
      </p:sp>
      <p:sp>
        <p:nvSpPr>
          <p:cNvPr id="13" name="card"/>
          <p:cNvSpPr/>
          <p:nvPr/>
        </p:nvSpPr>
        <p:spPr>
          <a:xfrm>
            <a:off x="6035040" y="1051560"/>
            <a:ext cx="2651760" cy="3657600"/>
          </a:xfrm>
          <a:prstGeom prst="roundRect">
            <a:avLst>
              <a:gd name="adj" fmla="val 2759"/>
            </a:avLst>
          </a:prstGeom>
          <a:solidFill>
            <a:srgbClr val="14213D"/>
          </a:solidFill>
          <a:ln w="12700">
            <a:solidFill>
              <a:srgbClr val="14213D"/>
            </a:solidFill>
            <a:prstDash val="solid"/>
          </a:ln>
        </p:spPr>
      </p:sp>
      <p:sp>
        <p:nvSpPr>
          <p:cNvPr id="14" name="Shape 11"/>
          <p:cNvSpPr/>
          <p:nvPr/>
        </p:nvSpPr>
        <p:spPr>
          <a:xfrm>
            <a:off x="6172200" y="1188720"/>
            <a:ext cx="182880" cy="182880"/>
          </a:xfrm>
          <a:prstGeom prst="ellipse">
            <a:avLst/>
          </a:prstGeom>
          <a:solidFill>
            <a:srgbClr val="4CC9F0"/>
          </a:solidFill>
          <a:ln w="12700">
            <a:solidFill>
              <a:srgbClr val="4CC9F0"/>
            </a:solidFill>
            <a:prstDash val="solid"/>
          </a:ln>
        </p:spPr>
      </p:sp>
      <p:sp>
        <p:nvSpPr>
          <p:cNvPr id="15" name="Text 12"/>
          <p:cNvSpPr txBox="1"/>
          <p:nvPr/>
        </p:nvSpPr>
        <p:spPr>
          <a:xfrm>
            <a:off x="6446520" y="1152144"/>
            <a:ext cx="2103120" cy="274320"/>
          </a:xfrm>
          <a:prstGeom prst="rect">
            <a:avLst/>
          </a:prstGeom>
          <a:noFill/>
        </p:spPr>
        <p:txBody>
          <a:bodyPr wrap="square" lIns="0" tIns="0" rIns="0" bIns="0" rtlCol="0" anchor="t"/>
          <a:lstStyle/>
          <a:p>
            <a:pPr marL="0" indent="0">
              <a:buNone/>
            </a:pPr>
            <a:r>
              <a:rPr lang="en-US" sz="1500" b="1" dirty="0">
                <a:solidFill>
                  <a:srgbClr val="F1F4FA"/>
                </a:solidFill>
              </a:rPr>
              <a:t>Future scope</a:t>
            </a:r>
            <a:endParaRPr lang="en-US" sz="1500" dirty="0"/>
          </a:p>
        </p:txBody>
      </p:sp>
      <p:sp>
        <p:nvSpPr>
          <p:cNvPr id="16" name="Text 13"/>
          <p:cNvSpPr txBox="1"/>
          <p:nvPr/>
        </p:nvSpPr>
        <p:spPr>
          <a:xfrm>
            <a:off x="6172200" y="1554480"/>
            <a:ext cx="2395728" cy="3063240"/>
          </a:xfrm>
          <a:prstGeom prst="rect">
            <a:avLst/>
          </a:prstGeom>
          <a:noFill/>
        </p:spPr>
        <p:txBody>
          <a:bodyPr wrap="square" lIns="0" tIns="0" rIns="0" bIns="0" rtlCol="0" anchor="t"/>
          <a:lstStyle/>
          <a:p>
            <a:pPr marL="152400" indent="-152400">
              <a:spcAft>
                <a:spcPts val="600"/>
              </a:spcAft>
              <a:buSzPct val="100000"/>
              <a:buChar char="•"/>
            </a:pPr>
            <a:r>
              <a:rPr lang="en-US" sz="1200" dirty="0">
                <a:solidFill>
                  <a:srgbClr val="F1F4FA"/>
                </a:solidFill>
              </a:rPr>
              <a:t>Batter- and bowler-level analysis</a:t>
            </a:r>
            <a:endParaRPr lang="en-US" sz="1200" dirty="0"/>
          </a:p>
          <a:p>
            <a:pPr marL="152400" indent="-152400">
              <a:spcAft>
                <a:spcPts val="600"/>
              </a:spcAft>
              <a:buSzPct val="100000"/>
              <a:buChar char="•"/>
            </a:pPr>
            <a:r>
              <a:rPr lang="en-US" sz="1200" dirty="0">
                <a:solidFill>
                  <a:srgbClr val="F1F4FA"/>
                </a:solidFill>
              </a:rPr>
              <a:t>Adjust for venue and pitch</a:t>
            </a:r>
            <a:endParaRPr lang="en-US" sz="1200" dirty="0"/>
          </a:p>
          <a:p>
            <a:pPr marL="152400" indent="-152400">
              <a:spcAft>
                <a:spcPts val="600"/>
              </a:spcAft>
              <a:buSzPct val="100000"/>
              <a:buChar char="•"/>
            </a:pPr>
            <a:r>
              <a:rPr lang="en-US" sz="1200" dirty="0">
                <a:solidFill>
                  <a:srgbClr val="F1F4FA"/>
                </a:solidFill>
              </a:rPr>
              <a:t>Ball-by-ball win-probability model</a:t>
            </a:r>
            <a:endParaRPr lang="en-US" sz="1200" dirty="0"/>
          </a:p>
          <a:p>
            <a:pPr marL="152400" indent="-152400">
              <a:spcAft>
                <a:spcPts val="600"/>
              </a:spcAft>
              <a:buSzPct val="100000"/>
              <a:buChar char="•"/>
            </a:pPr>
            <a:r>
              <a:rPr lang="en-US" sz="1200" dirty="0">
                <a:solidFill>
                  <a:srgbClr val="F1F4FA"/>
                </a:solidFill>
              </a:rPr>
              <a:t>Test alternative index weights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8229600" cy="201168"/>
          </a:xfrm>
          <a:prstGeom prst="rect">
            <a:avLst/>
          </a:prstGeom>
          <a:noFill/>
        </p:spPr>
        <p:txBody>
          <a:bodyPr wrap="square" lIns="0" tIns="0" rIns="0" bIns="0" rtlCol="0" anchor="t"/>
          <a:lstStyle/>
          <a:p>
            <a:pPr marL="0" indent="0">
              <a:buNone/>
            </a:pPr>
            <a:r>
              <a:rPr lang="en-US" sz="1000" b="1" kern="0" spc="200" dirty="0">
                <a:solidFill>
                  <a:srgbClr val="FCA311"/>
                </a:solidFill>
              </a:rPr>
              <a:t>09 · CONCLUSION</a:t>
            </a:r>
            <a:endParaRPr lang="en-US" sz="1000" dirty="0"/>
          </a:p>
        </p:txBody>
      </p:sp>
      <p:sp>
        <p:nvSpPr>
          <p:cNvPr id="3" name="Text 1"/>
          <p:cNvSpPr/>
          <p:nvPr>
            <p:ph type="title" idx="101" hasCustomPrompt="1"/>
          </p:nvPr>
        </p:nvSpPr>
        <p:spPr>
          <a:xfrm>
            <a:off x="457200" y="411480"/>
            <a:ext cx="8229600" cy="548640"/>
          </a:xfrm>
          <a:prstGeom prst="rect">
            <a:avLst/>
          </a:prstGeom>
          <a:noFill/>
        </p:spPr>
        <p:txBody>
          <a:bodyPr wrap="square" lIns="0" tIns="0" rIns="0" bIns="0" rtlCol="0" anchor="ctr"/>
          <a:lstStyle/>
          <a:p>
            <a:pPr marL="0" indent="0" algn="l">
              <a:buNone/>
            </a:pPr>
            <a:r>
              <a:rPr lang="en-US" sz="2600" b="1" dirty="0">
                <a:solidFill>
                  <a:srgbClr val="F1F4FA"/>
                </a:solidFill>
              </a:rPr>
              <a:t>Conclusion and Q&amp;A</a:t>
            </a:r>
            <a:endParaRPr lang="en-US" sz="2600" dirty="0"/>
          </a:p>
        </p:txBody>
      </p:sp>
      <p:sp>
        <p:nvSpPr>
          <p:cNvPr id="5" name="Text 2"/>
          <p:cNvSpPr txBox="1"/>
          <p:nvPr/>
        </p:nvSpPr>
        <p:spPr>
          <a:xfrm>
            <a:off x="457200" y="1051560"/>
            <a:ext cx="5029200" cy="640080"/>
          </a:xfrm>
          <a:prstGeom prst="rect">
            <a:avLst/>
          </a:prstGeom>
          <a:noFill/>
        </p:spPr>
        <p:txBody>
          <a:bodyPr wrap="square" lIns="0" tIns="0" rIns="0" bIns="0" rtlCol="0" anchor="t"/>
          <a:lstStyle/>
          <a:p>
            <a:pPr marL="0" indent="0">
              <a:buNone/>
            </a:pPr>
            <a:r>
              <a:rPr lang="en-US" sz="1600" b="1" dirty="0">
                <a:solidFill>
                  <a:srgbClr val="F1F4FA"/>
                </a:solidFill>
              </a:rPr>
              <a:t>Ball-by-ball IPL data can be converted into actionable team performance metrics.</a:t>
            </a:r>
            <a:endParaRPr lang="en-US" sz="1600" dirty="0"/>
          </a:p>
        </p:txBody>
      </p:sp>
      <p:sp>
        <p:nvSpPr>
          <p:cNvPr id="6" name="card"/>
          <p:cNvSpPr/>
          <p:nvPr/>
        </p:nvSpPr>
        <p:spPr>
          <a:xfrm>
            <a:off x="457200" y="1828800"/>
            <a:ext cx="5029200" cy="868680"/>
          </a:xfrm>
          <a:prstGeom prst="roundRect">
            <a:avLst>
              <a:gd name="adj" fmla="val 8421"/>
            </a:avLst>
          </a:prstGeom>
          <a:solidFill>
            <a:srgbClr val="1B2B4F"/>
          </a:solidFill>
          <a:ln w="12700">
            <a:solidFill>
              <a:srgbClr val="1B2B4F"/>
            </a:solidFill>
            <a:prstDash val="solid"/>
          </a:ln>
        </p:spPr>
      </p:sp>
      <p:sp>
        <p:nvSpPr>
          <p:cNvPr id="7" name="Text 4"/>
          <p:cNvSpPr/>
          <p:nvPr/>
        </p:nvSpPr>
        <p:spPr>
          <a:xfrm>
            <a:off x="594360" y="2084832"/>
            <a:ext cx="347472" cy="347472"/>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1</a:t>
            </a:r>
            <a:endParaRPr lang="en-US" sz="1200" dirty="0"/>
          </a:p>
        </p:txBody>
      </p:sp>
      <p:sp>
        <p:nvSpPr>
          <p:cNvPr id="8" name="Text 5"/>
          <p:cNvSpPr txBox="1"/>
          <p:nvPr/>
        </p:nvSpPr>
        <p:spPr>
          <a:xfrm>
            <a:off x="1097280" y="1938528"/>
            <a:ext cx="4206240" cy="274320"/>
          </a:xfrm>
          <a:prstGeom prst="rect">
            <a:avLst/>
          </a:prstGeom>
          <a:noFill/>
        </p:spPr>
        <p:txBody>
          <a:bodyPr wrap="square" lIns="0" tIns="0" rIns="0" bIns="0" rtlCol="0" anchor="t"/>
          <a:lstStyle/>
          <a:p>
            <a:pPr marL="0" indent="0">
              <a:buNone/>
            </a:pPr>
            <a:r>
              <a:rPr lang="en-US" sz="1400" b="1" dirty="0">
                <a:solidFill>
                  <a:srgbClr val="F1F4FA"/>
                </a:solidFill>
              </a:rPr>
              <a:t>Comprehensive comparisons</a:t>
            </a:r>
            <a:endParaRPr lang="en-US" sz="1400" dirty="0"/>
          </a:p>
        </p:txBody>
      </p:sp>
      <p:sp>
        <p:nvSpPr>
          <p:cNvPr id="9" name="Text 6"/>
          <p:cNvSpPr txBox="1"/>
          <p:nvPr/>
        </p:nvSpPr>
        <p:spPr>
          <a:xfrm>
            <a:off x="1097280" y="2240280"/>
            <a:ext cx="4206240" cy="411480"/>
          </a:xfrm>
          <a:prstGeom prst="rect">
            <a:avLst/>
          </a:prstGeom>
          <a:noFill/>
        </p:spPr>
        <p:txBody>
          <a:bodyPr wrap="square" lIns="0" tIns="0" rIns="0" bIns="0" rtlCol="0" anchor="t"/>
          <a:lstStyle/>
          <a:p>
            <a:pPr marL="0" indent="0">
              <a:buNone/>
            </a:pPr>
            <a:r>
              <a:rPr lang="en-US" sz="1200" dirty="0">
                <a:solidFill>
                  <a:srgbClr val="9AA5B8"/>
                </a:solidFill>
              </a:rPr>
              <a:t>Batting and bowling metrics by franchise and innings phase</a:t>
            </a:r>
            <a:endParaRPr lang="en-US" sz="1200" dirty="0"/>
          </a:p>
        </p:txBody>
      </p:sp>
      <p:sp>
        <p:nvSpPr>
          <p:cNvPr id="10" name="card"/>
          <p:cNvSpPr/>
          <p:nvPr/>
        </p:nvSpPr>
        <p:spPr>
          <a:xfrm>
            <a:off x="457200" y="2788920"/>
            <a:ext cx="5029200" cy="868680"/>
          </a:xfrm>
          <a:prstGeom prst="roundRect">
            <a:avLst>
              <a:gd name="adj" fmla="val 8421"/>
            </a:avLst>
          </a:prstGeom>
          <a:solidFill>
            <a:srgbClr val="1B2B4F"/>
          </a:solidFill>
          <a:ln w="12700">
            <a:solidFill>
              <a:srgbClr val="1B2B4F"/>
            </a:solidFill>
            <a:prstDash val="solid"/>
          </a:ln>
        </p:spPr>
      </p:sp>
      <p:sp>
        <p:nvSpPr>
          <p:cNvPr id="11" name="Text 8"/>
          <p:cNvSpPr/>
          <p:nvPr/>
        </p:nvSpPr>
        <p:spPr>
          <a:xfrm>
            <a:off x="594360" y="3044952"/>
            <a:ext cx="347472" cy="347472"/>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2</a:t>
            </a:r>
            <a:endParaRPr lang="en-US" sz="1200" dirty="0"/>
          </a:p>
        </p:txBody>
      </p:sp>
      <p:sp>
        <p:nvSpPr>
          <p:cNvPr id="12" name="Text 9"/>
          <p:cNvSpPr txBox="1"/>
          <p:nvPr/>
        </p:nvSpPr>
        <p:spPr>
          <a:xfrm>
            <a:off x="1097280" y="2898648"/>
            <a:ext cx="4206240" cy="274320"/>
          </a:xfrm>
          <a:prstGeom prst="rect">
            <a:avLst/>
          </a:prstGeom>
          <a:noFill/>
        </p:spPr>
        <p:txBody>
          <a:bodyPr wrap="square" lIns="0" tIns="0" rIns="0" bIns="0" rtlCol="0" anchor="t"/>
          <a:lstStyle/>
          <a:p>
            <a:pPr marL="0" indent="0">
              <a:buNone/>
            </a:pPr>
            <a:r>
              <a:rPr lang="en-US" sz="1400" b="1" dirty="0">
                <a:solidFill>
                  <a:srgbClr val="F1F4FA"/>
                </a:solidFill>
              </a:rPr>
              <a:t>Statistical investigation</a:t>
            </a:r>
            <a:endParaRPr lang="en-US" sz="1400" dirty="0"/>
          </a:p>
        </p:txBody>
      </p:sp>
      <p:sp>
        <p:nvSpPr>
          <p:cNvPr id="13" name="Text 10"/>
          <p:cNvSpPr txBox="1"/>
          <p:nvPr/>
        </p:nvSpPr>
        <p:spPr>
          <a:xfrm>
            <a:off x="1097280" y="3200400"/>
            <a:ext cx="4206240" cy="411480"/>
          </a:xfrm>
          <a:prstGeom prst="rect">
            <a:avLst/>
          </a:prstGeom>
          <a:noFill/>
        </p:spPr>
        <p:txBody>
          <a:bodyPr wrap="square" lIns="0" tIns="0" rIns="0" bIns="0" rtlCol="0" anchor="t"/>
          <a:lstStyle/>
          <a:p>
            <a:pPr marL="0" indent="0">
              <a:buNone/>
            </a:pPr>
            <a:r>
              <a:rPr lang="en-US" sz="1200" dirty="0">
                <a:solidFill>
                  <a:srgbClr val="9AA5B8"/>
                </a:solidFill>
              </a:rPr>
              <a:t>Seven hypothesis tests on what differs in winning innings</a:t>
            </a:r>
            <a:endParaRPr lang="en-US" sz="1200" dirty="0"/>
          </a:p>
        </p:txBody>
      </p:sp>
      <p:sp>
        <p:nvSpPr>
          <p:cNvPr id="14" name="card"/>
          <p:cNvSpPr/>
          <p:nvPr/>
        </p:nvSpPr>
        <p:spPr>
          <a:xfrm>
            <a:off x="457200" y="3749040"/>
            <a:ext cx="5029200" cy="868680"/>
          </a:xfrm>
          <a:prstGeom prst="roundRect">
            <a:avLst>
              <a:gd name="adj" fmla="val 8421"/>
            </a:avLst>
          </a:prstGeom>
          <a:solidFill>
            <a:srgbClr val="1B2B4F"/>
          </a:solidFill>
          <a:ln w="12700">
            <a:solidFill>
              <a:srgbClr val="1B2B4F"/>
            </a:solidFill>
            <a:prstDash val="solid"/>
          </a:ln>
        </p:spPr>
      </p:sp>
      <p:sp>
        <p:nvSpPr>
          <p:cNvPr id="15" name="Text 12"/>
          <p:cNvSpPr/>
          <p:nvPr/>
        </p:nvSpPr>
        <p:spPr>
          <a:xfrm>
            <a:off x="594360" y="4005072"/>
            <a:ext cx="347472" cy="347472"/>
          </a:xfrm>
          <a:prstGeom prst="ellipse">
            <a:avLst/>
          </a:prstGeom>
          <a:solidFill>
            <a:srgbClr val="FCA311"/>
          </a:solidFill>
        </p:spPr>
        <p:txBody>
          <a:bodyPr wrap="square" lIns="0" tIns="0" rIns="0" bIns="0" rtlCol="0" anchor="ctr"/>
          <a:lstStyle/>
          <a:p>
            <a:pPr marL="0" indent="0" algn="ctr">
              <a:buNone/>
            </a:pPr>
            <a:r>
              <a:rPr lang="en-US" sz="1200" b="1" dirty="0">
                <a:solidFill>
                  <a:srgbClr val="0A1128"/>
                </a:solidFill>
              </a:rPr>
              <a:t>3</a:t>
            </a:r>
            <a:endParaRPr lang="en-US" sz="1200" dirty="0"/>
          </a:p>
        </p:txBody>
      </p:sp>
      <p:sp>
        <p:nvSpPr>
          <p:cNvPr id="16" name="Text 13"/>
          <p:cNvSpPr txBox="1"/>
          <p:nvPr/>
        </p:nvSpPr>
        <p:spPr>
          <a:xfrm>
            <a:off x="1097280" y="3858768"/>
            <a:ext cx="4206240" cy="274320"/>
          </a:xfrm>
          <a:prstGeom prst="rect">
            <a:avLst/>
          </a:prstGeom>
          <a:noFill/>
        </p:spPr>
        <p:txBody>
          <a:bodyPr wrap="square" lIns="0" tIns="0" rIns="0" bIns="0" rtlCol="0" anchor="t"/>
          <a:lstStyle/>
          <a:p>
            <a:pPr marL="0" indent="0">
              <a:buNone/>
            </a:pPr>
            <a:r>
              <a:rPr lang="en-US" sz="1400" b="1" dirty="0">
                <a:solidFill>
                  <a:srgbClr val="F1F4FA"/>
                </a:solidFill>
              </a:rPr>
              <a:t>Transparent Performance Index</a:t>
            </a:r>
            <a:endParaRPr lang="en-US" sz="1400" dirty="0"/>
          </a:p>
        </p:txBody>
      </p:sp>
      <p:sp>
        <p:nvSpPr>
          <p:cNvPr id="17" name="Text 14"/>
          <p:cNvSpPr txBox="1"/>
          <p:nvPr/>
        </p:nvSpPr>
        <p:spPr>
          <a:xfrm>
            <a:off x="1097280" y="4160520"/>
            <a:ext cx="4206240" cy="411480"/>
          </a:xfrm>
          <a:prstGeom prst="rect">
            <a:avLst/>
          </a:prstGeom>
          <a:noFill/>
        </p:spPr>
        <p:txBody>
          <a:bodyPr wrap="square" lIns="0" tIns="0" rIns="0" bIns="0" rtlCol="0" anchor="t"/>
          <a:lstStyle/>
          <a:p>
            <a:pPr marL="0" indent="0">
              <a:buNone/>
            </a:pPr>
            <a:r>
              <a:rPr lang="en-US" sz="1200" dirty="0">
                <a:solidFill>
                  <a:srgbClr val="9AA5B8"/>
                </a:solidFill>
              </a:rPr>
              <a:t>A rule-based score that reveals each team's strengths and gaps</a:t>
            </a:r>
            <a:endParaRPr lang="en-US" sz="1200" dirty="0"/>
          </a:p>
        </p:txBody>
      </p:sp>
      <p:sp>
        <p:nvSpPr>
          <p:cNvPr id="18" name="Boundary rope"/>
          <p:cNvSpPr/>
          <p:nvPr/>
        </p:nvSpPr>
        <p:spPr>
          <a:xfrm>
            <a:off x="5943600" y="1097280"/>
            <a:ext cx="2743200" cy="2743200"/>
          </a:xfrm>
          <a:prstGeom prst="ellipse">
            <a:avLst/>
          </a:prstGeom>
          <a:solidFill>
            <a:srgbClr val="0F2A22"/>
          </a:solidFill>
          <a:ln w="31750">
            <a:solidFill>
              <a:srgbClr val="2FBF71"/>
            </a:solidFill>
            <a:prstDash val="solid"/>
          </a:ln>
        </p:spPr>
      </p:sp>
      <p:sp>
        <p:nvSpPr>
          <p:cNvPr id="19" name="Text 16"/>
          <p:cNvSpPr txBox="1"/>
          <p:nvPr/>
        </p:nvSpPr>
        <p:spPr>
          <a:xfrm>
            <a:off x="5943600" y="1965960"/>
            <a:ext cx="2743200" cy="457200"/>
          </a:xfrm>
          <a:prstGeom prst="rect">
            <a:avLst/>
          </a:prstGeom>
          <a:noFill/>
        </p:spPr>
        <p:txBody>
          <a:bodyPr wrap="square" lIns="0" tIns="0" rIns="0" bIns="0" rtlCol="0" anchor="t"/>
          <a:lstStyle/>
          <a:p>
            <a:pPr marL="0" indent="0" algn="ctr">
              <a:buNone/>
            </a:pPr>
            <a:r>
              <a:rPr lang="en-US" sz="2800" b="1" dirty="0">
                <a:solidFill>
                  <a:srgbClr val="FCA311"/>
                </a:solidFill>
                <a:latin typeface="Cambria" panose="02040503050406030204" pitchFamily="34" charset="0"/>
                <a:ea typeface="Cambria" panose="02040503050406030204" pitchFamily="34" charset="-122"/>
                <a:cs typeface="Cambria" panose="02040503050406030204" pitchFamily="34" charset="-120"/>
              </a:rPr>
              <a:t>Thank You</a:t>
            </a:r>
            <a:endParaRPr lang="en-US" sz="2800" dirty="0"/>
          </a:p>
        </p:txBody>
      </p:sp>
      <p:sp>
        <p:nvSpPr>
          <p:cNvPr id="20" name="Text 17"/>
          <p:cNvSpPr txBox="1"/>
          <p:nvPr/>
        </p:nvSpPr>
        <p:spPr>
          <a:xfrm>
            <a:off x="5943600" y="2514600"/>
            <a:ext cx="2743200" cy="365760"/>
          </a:xfrm>
          <a:prstGeom prst="rect">
            <a:avLst/>
          </a:prstGeom>
          <a:noFill/>
        </p:spPr>
        <p:txBody>
          <a:bodyPr wrap="square" lIns="0" tIns="0" rIns="0" bIns="0" rtlCol="0" anchor="t"/>
          <a:lstStyle/>
          <a:p>
            <a:pPr marL="0" indent="0" algn="ctr">
              <a:buNone/>
            </a:pPr>
            <a:r>
              <a:rPr lang="en-US" sz="2000" dirty="0">
                <a:solidFill>
                  <a:srgbClr val="F1F4FA"/>
                </a:solidFill>
              </a:rPr>
              <a:t>Questions?</a:t>
            </a:r>
            <a:endParaRPr lang="en-US" sz="2000" dirty="0"/>
          </a:p>
        </p:txBody>
      </p:sp>
      <p:sp>
        <p:nvSpPr>
          <p:cNvPr id="25" name="Slide Number Placeholder 0"/>
          <p:cNvSpPr>
            <a:spLocks noGrp="1"/>
          </p:cNvSpPr>
          <p:nvPr>
            <p:ph type="sldNum" sz="quarter" idx="4294967295"/>
          </p:nvPr>
        </p:nvSpPr>
        <p:spPr>
          <a:xfrm>
            <a:off x="8229600" y="4846320"/>
            <a:ext cx="457200" cy="228600"/>
          </a:xfrm>
          <a:prstGeom prst="rect">
            <a:avLst/>
          </a:prstGeom>
        </p:spPr>
        <p:txBody>
          <a:bodyPr/>
          <a:lstStyle>
            <a:lvl1pPr>
              <a:defRPr sz="1000">
                <a:solidFill>
                  <a:srgbClr val="9AA5B8"/>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IPL Analytics Night">
  <a:themeElements>
    <a:clrScheme name="IPL Analytics Night">
      <a:dk1>
        <a:srgbClr val="0A1128"/>
      </a:dk1>
      <a:lt1>
        <a:srgbClr val="FFFFFF"/>
      </a:lt1>
      <a:dk2>
        <a:srgbClr val="14213D"/>
      </a:dk2>
      <a:lt2>
        <a:srgbClr val="E8ECF4"/>
      </a:lt2>
      <a:accent1>
        <a:srgbClr val="FCA311"/>
      </a:accent1>
      <a:accent2>
        <a:srgbClr val="E63946"/>
      </a:accent2>
      <a:accent3>
        <a:srgbClr val="2FBF71"/>
      </a:accent3>
      <a:accent4>
        <a:srgbClr val="4CC9F0"/>
      </a:accent4>
      <a:accent5>
        <a:srgbClr val="9AA5B8"/>
      </a:accent5>
      <a:accent6>
        <a:srgbClr val="F4D58D"/>
      </a:accent6>
      <a:hlink>
        <a:srgbClr val="4CC9F0"/>
      </a:hlink>
      <a:folHlink>
        <a:srgbClr val="9AA5B8"/>
      </a:folHlink>
    </a:clrScheme>
    <a:fontScheme name="IPL Analytics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PL Analytics Night">
  <a:themeElements>
    <a:clrScheme name="IPL Analytics Night">
      <a:dk1>
        <a:srgbClr val="0A1128"/>
      </a:dk1>
      <a:lt1>
        <a:srgbClr val="FFFFFF"/>
      </a:lt1>
      <a:dk2>
        <a:srgbClr val="14213D"/>
      </a:dk2>
      <a:lt2>
        <a:srgbClr val="E8ECF4"/>
      </a:lt2>
      <a:accent1>
        <a:srgbClr val="FCA311"/>
      </a:accent1>
      <a:accent2>
        <a:srgbClr val="E63946"/>
      </a:accent2>
      <a:accent3>
        <a:srgbClr val="2FBF71"/>
      </a:accent3>
      <a:accent4>
        <a:srgbClr val="4CC9F0"/>
      </a:accent4>
      <a:accent5>
        <a:srgbClr val="9AA5B8"/>
      </a:accent5>
      <a:accent6>
        <a:srgbClr val="F4D58D"/>
      </a:accent6>
      <a:hlink>
        <a:srgbClr val="4CC9F0"/>
      </a:hlink>
      <a:folHlink>
        <a:srgbClr val="9AA5B8"/>
      </a:folHlink>
    </a:clrScheme>
    <a:fontScheme name="IPL Analytics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8687</Words>
  <Application>WPS Presentation</Application>
  <PresentationFormat>On-screen Show (16:9)</PresentationFormat>
  <Paragraphs>580</Paragraphs>
  <Slides>15</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IPL Analytics Night</vt:lpstr>
      <vt:lpstr>PowerPoint 演示文稿</vt:lpstr>
      <vt:lpstr>Business Problem and Objectives</vt:lpstr>
      <vt:lpstr>Dataset Understanding</vt:lpstr>
      <vt:lpstr>Data Cleaning and Feature Engineering</vt:lpstr>
      <vt:lpstr>Exploratory Data Analysis</vt:lpstr>
      <vt:lpstr>Comparing IPL Teams</vt:lpstr>
      <vt:lpstr>Phase-Wise Performance Analysis</vt:lpstr>
      <vt:lpstr>Batting First Versus Chasing</vt:lpstr>
      <vt:lpstr>Statistical Hypothesis Testing</vt:lpstr>
      <vt:lpstr>Hypothesis Testing Results</vt:lpstr>
      <vt:lpstr>Team Performance Index</vt:lpstr>
      <vt:lpstr>Does the Index Agree With Winning?</vt:lpstr>
      <vt:lpstr>Key Business Insights</vt:lpstr>
      <vt:lpstr>Recommendations and Limitations</vt:lpstr>
      <vt:lpstr>Conclusion and Q&amp;A</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IPL Team Performance Analysis</dc:title>
  <dc:creator>[Your Name]</dc:creator>
  <dc:subject>PptxGenJS Presentation</dc:subject>
  <cp:lastModifiedBy>Prince Sharma</cp:lastModifiedBy>
  <cp:revision>2</cp:revision>
  <dcterms:created xsi:type="dcterms:W3CDTF">2026-10-11T15:52:00Z</dcterms:created>
  <dcterms:modified xsi:type="dcterms:W3CDTF">2026-10-11T15:57:21Z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7E858178E86642B4ACD7ADDF0A73FBFA_12</vt:lpwstr>
  </property>
  <property fmtid="{D5CDD505-2E9C-101B-9397-08002B2CF9AE}" pid="3" name="KSOProductBuildVer">
    <vt:lpwstr>1033-12.1.0.28485</vt:lpwstr>
  </property>
</Properties>
</file>